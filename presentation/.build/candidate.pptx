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03b8a04e31241d1" /><Relationship Type="http://schemas.openxmlformats.org/officeDocument/2006/relationships/extended-properties" Target="/docProps/app.xml" Id="Reaf54aa737d0470b" /><Relationship Type="http://schemas.openxmlformats.org/officeDocument/2006/relationships/officeDocument" Target="/ppt/presentation.xml" Id="R904140ffe59f4826" /></Relationships>
</file>

<file path=ppt/presentation.xml><?xml version="1.0" encoding="utf-8"?>
<p:presentation xmlns:p="http://schemas.openxmlformats.org/presentationml/2006/main">
  <p:sldMasterIdLst>
    <p:sldMasterId xmlns:r="http://schemas.openxmlformats.org/officeDocument/2006/relationships" id="2147483648" r:id="R0642b60431ea44d4"/>
  </p:sldMasterIdLst>
  <p:notesMasterIdLst>
    <p:notesMasterId xmlns:r="http://schemas.openxmlformats.org/officeDocument/2006/relationships" r:id="Ra29212b78423438e"/>
  </p:notesMasterIdLst>
  <p:sldIdLst>
    <p:sldId xmlns:r="http://schemas.openxmlformats.org/officeDocument/2006/relationships" id="256" r:id="R385485d7a8e8456c"/>
    <p:sldId xmlns:r="http://schemas.openxmlformats.org/officeDocument/2006/relationships" id="257" r:id="R06d65d81718942bd"/>
    <p:sldId xmlns:r="http://schemas.openxmlformats.org/officeDocument/2006/relationships" id="258" r:id="R54e455588c8b4aa6"/>
    <p:sldId xmlns:r="http://schemas.openxmlformats.org/officeDocument/2006/relationships" id="259" r:id="R679b637de9344de8"/>
    <p:sldId xmlns:r="http://schemas.openxmlformats.org/officeDocument/2006/relationships" id="260" r:id="R8bfd8a0295ee4e71"/>
    <p:sldId xmlns:r="http://schemas.openxmlformats.org/officeDocument/2006/relationships" id="261" r:id="Rf480f7edef1d458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17f1fd668ee4f68" /><Relationship Type="http://schemas.openxmlformats.org/officeDocument/2006/relationships/slideMaster" Target="/ppt/slideMasters/slideMaster1.xml" Id="R0642b60431ea44d4" /><Relationship Type="http://schemas.openxmlformats.org/officeDocument/2006/relationships/notesMaster" Target="/ppt/notesMasters/notesMaster1.xml" Id="Ra29212b78423438e" /><Relationship Type="http://schemas.openxmlformats.org/officeDocument/2006/relationships/presProps" Target="/ppt/presProps.xml" Id="R60b35ab279a4469e" /><Relationship Type="http://schemas.openxmlformats.org/officeDocument/2006/relationships/tableStyles" Target="/ppt/tableStyles.xml" Id="R57421c0393614b7e" /><Relationship Type="http://schemas.openxmlformats.org/officeDocument/2006/relationships/slide" Target="/ppt/slides/slide1.xml" Id="R385485d7a8e8456c" /><Relationship Type="http://schemas.openxmlformats.org/officeDocument/2006/relationships/slide" Target="/ppt/slides/slide2.xml" Id="R06d65d81718942bd" /><Relationship Type="http://schemas.openxmlformats.org/officeDocument/2006/relationships/slide" Target="/ppt/slides/slide3.xml" Id="R54e455588c8b4aa6" /><Relationship Type="http://schemas.openxmlformats.org/officeDocument/2006/relationships/slide" Target="/ppt/slides/slide4.xml" Id="R679b637de9344de8" /><Relationship Type="http://schemas.openxmlformats.org/officeDocument/2006/relationships/slide" Target="/ppt/slides/slide5.xml" Id="R8bfd8a0295ee4e71" /><Relationship Type="http://schemas.openxmlformats.org/officeDocument/2006/relationships/slide" Target="/ppt/slides/slide6.xml" Id="Rf480f7edef1d458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ddcee20065f4f6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cd8baa24ab14196" /><Relationship Type="http://schemas.openxmlformats.org/officeDocument/2006/relationships/notesMaster" Target="/ppt/notesMasters/notesMaster1.xml" Id="R3a06aa9b04c04238" /></Relationships>
</file>

<file path=ppt/notesSlides/_rels/notesSlide2.xml.rels>&#65279;<?xml version="1.0" encoding="utf-8"?><Relationships xmlns="http://schemas.openxmlformats.org/package/2006/relationships"><Relationship Type="http://schemas.openxmlformats.org/officeDocument/2006/relationships/slide" Target="/ppt/slides/slide2.xml" Id="Rbceb03df2d9142f6" /><Relationship Type="http://schemas.openxmlformats.org/officeDocument/2006/relationships/notesMaster" Target="/ppt/notesMasters/notesMaster1.xml" Id="R536576c949924b48" /></Relationships>
</file>

<file path=ppt/notesSlides/_rels/notesSlide3.xml.rels>&#65279;<?xml version="1.0" encoding="utf-8"?><Relationships xmlns="http://schemas.openxmlformats.org/package/2006/relationships"><Relationship Type="http://schemas.openxmlformats.org/officeDocument/2006/relationships/slide" Target="/ppt/slides/slide3.xml" Id="R1aaee734e97d4da1" /><Relationship Type="http://schemas.openxmlformats.org/officeDocument/2006/relationships/notesMaster" Target="/ppt/notesMasters/notesMaster1.xml" Id="R86152ce9ed5a4e4c" /></Relationships>
</file>

<file path=ppt/notesSlides/_rels/notesSlide4.xml.rels>&#65279;<?xml version="1.0" encoding="utf-8"?><Relationships xmlns="http://schemas.openxmlformats.org/package/2006/relationships"><Relationship Type="http://schemas.openxmlformats.org/officeDocument/2006/relationships/slide" Target="/ppt/slides/slide4.xml" Id="Re6af279a991047eb" /><Relationship Type="http://schemas.openxmlformats.org/officeDocument/2006/relationships/notesMaster" Target="/ppt/notesMasters/notesMaster1.xml" Id="R89e2a0c9bc4e4e65" /></Relationships>
</file>

<file path=ppt/notesSlides/_rels/notesSlide5.xml.rels>&#65279;<?xml version="1.0" encoding="utf-8"?><Relationships xmlns="http://schemas.openxmlformats.org/package/2006/relationships"><Relationship Type="http://schemas.openxmlformats.org/officeDocument/2006/relationships/slide" Target="/ppt/slides/slide5.xml" Id="R8f5d7faa2e48407e" /><Relationship Type="http://schemas.openxmlformats.org/officeDocument/2006/relationships/notesMaster" Target="/ppt/notesMasters/notesMaster1.xml" Id="Rcfbc80b894cf4fc4" /></Relationships>
</file>

<file path=ppt/notesSlides/_rels/notesSlide6.xml.rels>&#65279;<?xml version="1.0" encoding="utf-8"?><Relationships xmlns="http://schemas.openxmlformats.org/package/2006/relationships"><Relationship Type="http://schemas.openxmlformats.org/officeDocument/2006/relationships/slide" Target="/ppt/slides/slide6.xml" Id="R47d4056c0b6444d3" /><Relationship Type="http://schemas.openxmlformats.org/officeDocument/2006/relationships/notesMaster" Target="/ppt/notesMasters/notesMaster1.xml" Id="R3da11df334b244d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Namoyishdagi suratlar va assortiment demo namuna. Haqiqiy do‘kon mahsulotlari, narxlari, qoldig‘i va kontaktlari egasi bilan moslashtiriladi. Sayt va admin panel tayyor. Telegram bot demo tasdiqlangach paket doirasida ishlab chiqilib ulanadi.</a:t>
            </a:r>
          </a:p>
          <a:p xmlns:a="http://schemas.openxmlformats.org/drawingml/2006/main">
            <a:r>
              <a:t>Foto: malbus pak. https://unsplash.com/photos/a-woman-in-a-blue-dress-standing-in-front-of-a-building-QckJXojinmg. Unsplash License.</a:t>
            </a:r>
          </a:p>
          <a:p xmlns:a="http://schemas.openxmlformats.org/drawingml/2006/main">
            <a:r>
              <a:t>Loyiha: https://fashion-shop-demo-tom.netlify.app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Funksiyalar manbasi: docs/ADMIN_GUIDE_V2.md, docs/UZ_MARKET_UPDATE.md va tayyor loyiha. Ekran tasviri shu loyihaning lokal ishlab turgan nusxasidan, haqiqiy interfeys. Mahsulotni buyurtmadan oldin variant va qoldiq bo‘yicha tekshiradi. Yetkazish do‘kon sozlamalariga bog‘liq.</a:t>
            </a:r>
          </a:p>
          <a:p xmlns:a="http://schemas.openxmlformats.org/drawingml/2006/main">
            <a:r>
              <a:t>Namoyishdagi suratlar va assortiment demo namuna. Haqiqiy do‘kon mahsulotlari, narxlari, qoldig‘i va kontaktlari egasi bilan moslashtiriladi. Sayt va admin panel tayyor. Telegram bot demo tasdiqlangach paket doirasida ishlab chiqilib ulanadi.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Manba: docs/ADMIN_GUIDE_V2.md va haqiqiy admin panel. Hisobot tushumni qayd qiladi, foydani avtomatik taxmin qilmaydi. Qoldiq variant bo‘yicha boshqariladi. Panel egasi va sotuvchi rolini farqlaydi. Ekran tasviridagi ma’lumotlar demo assortiment. Admin login/paroli taqdimotga kiritilmagan.</a:t>
            </a:r>
          </a:p>
          <a:p xmlns:a="http://schemas.openxmlformats.org/drawingml/2006/main">
            <a:r>
              <a:t>https://fashion-shop-demo-tom.netlify.app/admin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Manba: docs/STUDIO_GUIDE.md. Tayyor rasm shu loyihadagi ImageStudio brauzer vositasida GrabCut bilan ishlab chiqildi. Mahsulotga saqlash yoki nashr qilish bajarilmadi. Bir bosishda istalgan murakkab fonda mukammal ajratish kafolatlanmaydi. Rasm API xarajati yo‘q, domen va hosting alohida.</a:t>
            </a:r>
          </a:p>
          <a:p xmlns:a="http://schemas.openxmlformats.org/drawingml/2006/main">
            <a:r>
              <a:t>Foto: Laura Chouette. https://unsplash.com/photos/womens-red-long-sleeved-blouse-_3Tin89kDks. Unsplash License.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Telegram bot hali ishlab chiqilmagan va demo saytga ulanmagan. Bu slaydda biznes egasiga sotiladigan to‘liq paketning keyingi bosqichi taqdim etiladi. Yangi buyurtma/murojaat egasining Telegram chatiga avtomatik yuborilishi rejalashtirilgan. Bot username/havolasi hali mavjud emas, shuning uchun unga QR qo‘yilmagan.</a:t>
            </a:r>
          </a:p>
          <a:p xmlns:a="http://schemas.openxmlformats.org/drawingml/2006/main">
            <a:r>
              <a:t>Foto: Alex Shaw. https://unsplash.com/photos/woman-in-black-long-sleeve-shirt-and-white-pants-standing-on-street-during-daytime-0nbgOr6XyFY. Unsplash License.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Taklif foydalanuvchi talabiga mos: 4 500 000 so‘mlik bir martalik paket, boshlang‘ich sozlash va topshirilgan kundan boshlab 3 oy saytga oid har qanday muammoni bartaraf etish/servis bepul. Servis va yangi loyiha/funksiyalarni ishlab chiqish alohida ko‘lamda kelishiladi. Domen va pulli hosting to‘lovlari alohida. Hisob: 4 500 000 / 11 897,90 = 378,21799057 USD. Slaydda yaxlitlangan ≈$378. Kurs manbasi: https://www.cbu.uz/en/arkhiv-kursov-valyut/ va 11.10.2026 uchun tasdiqlovchi https://digital.gov.uz/ru/iiv/sections/view/44573. QR 1: https://fashion-shop-demo-tom.netlify.app; QR 2: https://fashion-shop-demo-tom.netlify.app/admin. Admin paroli QR yoki faylga yozilmagan.</a:t>
            </a:r>
          </a:p>
          <a:p xmlns:a="http://schemas.openxmlformats.org/drawingml/2006/main">
            <a:r>
              <a:t>Namoyishdagi suratlar va assortiment demo namuna. Haqiqiy do‘kon mahsulotlari, narxlari, qoldig‘i va kontaktlari egasi bilan moslashtiriladi. Sayt va admin panel tayyor. Telegram bot demo tasdiqlangach paket doirasida ishlab chiqilib ulanadi.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cc8bb460db6404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b866364a64d463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cffc7f11b254ee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65ba03edb4d4af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202459d805f4eb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7856674b130468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0E3517E-75C6-458A-9CAB-05DA8E3F653E}"/>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376F2778-8B3F-4382-9281-87CC90238846}"/>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AE943E2A-3407-4D30-B8C8-8DB33B5F6CDC}"/>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673F6ED-3545-47AA-8F36-3BFC47E0EA2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2492AFD9-5F16-4B59-841B-ECFCF52DDB7D}"/>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BF17FB97-1CE5-48B7-9A96-D744DAB18E4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E767D4F-839D-4B1E-8F24-7CF09A87D82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6F2BCAFF-F8E2-418C-8A9A-5678687D0524}"/>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A6CC695-72E6-4718-AF5A-022A767652E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AC6851D-910F-4C47-8BA9-25E88A45D10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f8e7b4789844895" /><Relationship Type="http://schemas.openxmlformats.org/officeDocument/2006/relationships/slideLayout" Target="/ppt/slideLayouts/slideLayout1.xml" Id="R1ff7863bf4324cf7" /><Relationship Type="http://schemas.openxmlformats.org/officeDocument/2006/relationships/slideLayout" Target="/ppt/slideLayouts/slideLayout2.xml" Id="R7cd8da09d388470a" /><Relationship Type="http://schemas.openxmlformats.org/officeDocument/2006/relationships/slideLayout" Target="/ppt/slideLayouts/slideLayout3.xml" Id="R27dccc04a5d340f4" /><Relationship Type="http://schemas.openxmlformats.org/officeDocument/2006/relationships/slideLayout" Target="/ppt/slideLayouts/slideLayout4.xml" Id="R26c4a71cc393421d" /><Relationship Type="http://schemas.openxmlformats.org/officeDocument/2006/relationships/slideLayout" Target="/ppt/slideLayouts/slideLayout5.xml" Id="R6255a7ff14c84297" /><Relationship Type="http://schemas.openxmlformats.org/officeDocument/2006/relationships/slideLayout" Target="/ppt/slideLayouts/slideLayout6.xml" Id="R198a12b146e3424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ff7863bf4324cf7"/>
    <p:sldLayoutId xmlns:r="http://schemas.openxmlformats.org/officeDocument/2006/relationships" id="2147483650" r:id="R7cd8da09d388470a"/>
    <p:sldLayoutId xmlns:r="http://schemas.openxmlformats.org/officeDocument/2006/relationships" id="2147483651" r:id="R27dccc04a5d340f4"/>
    <p:sldLayoutId xmlns:r="http://schemas.openxmlformats.org/officeDocument/2006/relationships" id="2147483652" r:id="R26c4a71cc393421d"/>
    <p:sldLayoutId xmlns:r="http://schemas.openxmlformats.org/officeDocument/2006/relationships" id="2147483653" r:id="R6255a7ff14c84297"/>
    <p:sldLayoutId xmlns:r="http://schemas.openxmlformats.org/officeDocument/2006/relationships" id="2147483654" r:id="R198a12b146e3424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f0c4754cde0c43ce" /><Relationship Type="http://schemas.openxmlformats.org/officeDocument/2006/relationships/image" Target="/ppt/media/image.jpeg" Id="Rbbc7de10a5d34fa7" /><Relationship Type="http://schemas.openxmlformats.org/officeDocument/2006/relationships/notesSlide" Target="/ppt/notesSlides/notesSlide1.xml" Id="Rc770cf90a8cd4e74"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4a0e062ecd164c37" /><Relationship Type="http://schemas.openxmlformats.org/officeDocument/2006/relationships/image" Target="/ppt/media/image.png" Id="R7cdece64a1c6442b" /><Relationship Type="http://schemas.openxmlformats.org/officeDocument/2006/relationships/notesSlide" Target="/ppt/notesSlides/notesSlide2.xml" Id="R4acf3e39376e4abc"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ab47f1baf8954a0c" /><Relationship Type="http://schemas.openxmlformats.org/officeDocument/2006/relationships/image" Target="/ppt/media/image2.png" Id="Rec73b342f8e146ad" /><Relationship Type="http://schemas.openxmlformats.org/officeDocument/2006/relationships/notesSlide" Target="/ppt/notesSlides/notesSlide3.xml" Id="Rd853b648d4a74694"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190d793bcefa4d89" /><Relationship Type="http://schemas.openxmlformats.org/officeDocument/2006/relationships/image" Target="/ppt/media/image2.jpeg" Id="Reb5d6fe556094b7e" /><Relationship Type="http://schemas.openxmlformats.org/officeDocument/2006/relationships/image" Target="/ppt/media/image3.png" Id="Ra86f9e299ff14c9b" /><Relationship Type="http://schemas.openxmlformats.org/officeDocument/2006/relationships/notesSlide" Target="/ppt/notesSlides/notesSlide4.xml" Id="Ra32fbfe0481c4705"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68df30add8424787" /><Relationship Type="http://schemas.openxmlformats.org/officeDocument/2006/relationships/image" Target="/ppt/media/image3.jpeg" Id="R8f4e083ff7ad4fdf" /><Relationship Type="http://schemas.openxmlformats.org/officeDocument/2006/relationships/notesSlide" Target="/ppt/notesSlides/notesSlide5.xml" Id="R9bcb151ee68d48e4"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01716a2e15cc46d1" /><Relationship Type="http://schemas.openxmlformats.org/officeDocument/2006/relationships/image" Target="/ppt/media/image4.png" Id="Re3c72e98ee274e6d" /><Relationship Type="http://schemas.openxmlformats.org/officeDocument/2006/relationships/hyperlink" Target="https://fashion-shop-demo-tom.netlify.app" TargetMode="External" Id="R3870679b77394b23" /><Relationship Type="http://schemas.openxmlformats.org/officeDocument/2006/relationships/image" Target="/ppt/media/image5.png" Id="Re6f3a4cdcddf458f" /><Relationship Type="http://schemas.openxmlformats.org/officeDocument/2006/relationships/hyperlink" Target="https://fashion-shop-demo-tom.netlify.app/admin" TargetMode="External" Id="Rb815a35e56934e42" /><Relationship Type="http://schemas.openxmlformats.org/officeDocument/2006/relationships/notesSlide" Target="/ppt/notesSlides/notesSlide6.xml" Id="R34ed7cc2f00c4d11" /></Relationships>
</file>

<file path=ppt/slides/slide1.xml><?xml version="1.0" encoding="utf-8"?>
<p:sld xmlns:p="http://schemas.openxmlformats.org/presentationml/2006/main">
  <p:cSld>
    <p:bg>
      <p:bgPr>
        <a:solidFill xmlns:a="http://schemas.openxmlformats.org/drawingml/2006/main">
          <a:srgbClr val="F6F0E7"/>
        </a:solidFill>
      </p:bgPr>
    </p:bg>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0226CC2A-B786-4592-9473-A3B566196EBE}"/>
              </a:ext>
            </a:extLst>
          </p:cNvPr>
          <p:cNvPicPr>
            <a:picLocks xmlns:a="http://schemas.openxmlformats.org/drawingml/2006/main" noChangeAspect="1"/>
          </p:cNvPicPr>
          <p:nvPr/>
        </p:nvPicPr>
        <p:blipFill>
          <a:blip xmlns:r="http://schemas.openxmlformats.org/officeDocument/2006/relationships" xmlns:a="http://schemas.openxmlformats.org/drawingml/2006/main" r:embed="Rbbc7de10a5d34fa7"/>
          <a:srcRect xmlns:a="http://schemas.openxmlformats.org/drawingml/2006/main" l="0" t="6217" r="0" b="6217"/>
          <a:stretch xmlns:a="http://schemas.openxmlformats.org/drawingml/2006/main">
            <a:fillRect l="0" t="0" r="0" b="0"/>
          </a:stretch>
        </p:blipFill>
        <p:spPr>
          <a:xfrm xmlns:a="http://schemas.openxmlformats.org/drawingml/2006/main">
            <a:off x="7086600" y="0"/>
            <a:ext cx="5105400" cy="6858000"/>
          </a:xfrm>
          <a:prstGeom xmlns:a="http://schemas.openxmlformats.org/drawingml/2006/main" prst="rect">
            <a:avLst/>
          </a:prstGeom>
        </p:spPr>
      </p:pic>
      <p:sp>
        <p:nvSpPr>
          <p:cNvPr id="2" name="Fashion Shop">
            <a:extLst xmlns:a="http://schemas.openxmlformats.org/drawingml/2006/main">
              <a:ext uri="{FF2B5EF4-FFF2-40B4-BE49-F238E27FC236}">
                <a16:creationId xmlns:a16="http://schemas.microsoft.com/office/drawing/2014/main" id="{370F1867-FF2D-4978-8132-C3F97A530E6E}"/>
              </a:ext>
            </a:extLst>
          </p:cNvPr>
          <p:cNvSpPr>
            <a:spLocks xmlns:a="http://schemas.openxmlformats.org/drawingml/2006/main" noGrp="1"/>
          </p:cNvSpPr>
          <p:nvPr/>
        </p:nvSpPr>
        <p:spPr>
          <a:xfrm xmlns:a="http://schemas.openxmlformats.org/drawingml/2006/main">
            <a:off x="590550" y="542925"/>
            <a:ext cx="57150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0" i="1">
                <a:solidFill>
                  <a:srgbClr val="622C46"/>
                </a:solidFill>
                <a:latin typeface="Georgia"/>
                <a:ea typeface="Georgia"/>
                <a:cs typeface="Georgia"/>
              </a:defRPr>
            </a:defPPr>
          </a:lstStyle>
          <a:p xmlns:a="http://schemas.openxmlformats.org/drawingml/2006/main">
            <a:pPr>
              <a:defRPr sz="3300" b="0" i="1">
                <a:solidFill>
                  <a:srgbClr val="622C46"/>
                </a:solidFill>
                <a:latin typeface="Georgia"/>
                <a:ea typeface="Georgia"/>
                <a:cs typeface="Georgia"/>
              </a:defRPr>
            </a:pPr>
            <a:r>
              <a:rPr sz="3300" b="0" i="1">
                <a:solidFill>
                  <a:srgbClr val="622C46"/>
                </a:solidFill>
                <a:latin typeface="Georgia"/>
                <a:ea typeface="Georgia"/>
                <a:cs typeface="Georgia"/>
              </a:rPr>
              <a:t>Fashion Shop</a:t>
            </a:r>
          </a:p>
        </p:txBody>
      </p:sp>
      <p:sp>
        <p:nvSpPr>
          <p:cNvPr id="3" name="Kiyim do‘koningiz&#10;uchun onlayn&#10;vitrina">
            <a:extLst xmlns:a="http://schemas.openxmlformats.org/drawingml/2006/main">
              <a:ext uri="{FF2B5EF4-FFF2-40B4-BE49-F238E27FC236}">
                <a16:creationId xmlns:a16="http://schemas.microsoft.com/office/drawing/2014/main" id="{9C943182-7D82-4B7E-A8CF-532B5D2CABC8}"/>
              </a:ext>
            </a:extLst>
          </p:cNvPr>
          <p:cNvSpPr>
            <a:spLocks xmlns:a="http://schemas.openxmlformats.org/drawingml/2006/main" noGrp="1"/>
          </p:cNvSpPr>
          <p:nvPr/>
        </p:nvSpPr>
        <p:spPr>
          <a:xfrm xmlns:a="http://schemas.openxmlformats.org/drawingml/2006/main">
            <a:off x="590550" y="1571625"/>
            <a:ext cx="6238875" cy="2628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5175" b="0" i="0">
                <a:solidFill>
                  <a:srgbClr val="261A20"/>
                </a:solidFill>
                <a:latin typeface="Georgia"/>
                <a:ea typeface="Georgia"/>
                <a:cs typeface="Georgia"/>
              </a:defRPr>
            </a:defPPr>
          </a:lstStyle>
          <a:p xmlns:a="http://schemas.openxmlformats.org/drawingml/2006/main">
            <a:pPr>
              <a:defRPr sz="5175" b="0" i="0">
                <a:solidFill>
                  <a:srgbClr val="261A20"/>
                </a:solidFill>
                <a:latin typeface="Georgia"/>
                <a:ea typeface="Georgia"/>
                <a:cs typeface="Georgia"/>
              </a:defRPr>
            </a:pPr>
            <a:r>
              <a:rPr sz="5175" b="0" i="0">
                <a:solidFill>
                  <a:srgbClr val="261A20"/>
                </a:solidFill>
                <a:latin typeface="Georgia"/>
                <a:ea typeface="Georgia"/>
                <a:cs typeface="Georgia"/>
              </a:rPr>
              <a:t>Kiyim do‘koningiz</a:t>
            </a:r>
          </a:p>
          <a:p xmlns:a="http://schemas.openxmlformats.org/drawingml/2006/main">
            <a:pPr>
              <a:defRPr sz="5175" b="0" i="0">
                <a:solidFill>
                  <a:srgbClr val="261A20"/>
                </a:solidFill>
                <a:latin typeface="Georgia"/>
                <a:ea typeface="Georgia"/>
                <a:cs typeface="Georgia"/>
              </a:defRPr>
            </a:pPr>
            <a:r>
              <a:rPr sz="5175" b="0" i="0">
                <a:solidFill>
                  <a:srgbClr val="261A20"/>
                </a:solidFill>
                <a:latin typeface="Georgia"/>
                <a:ea typeface="Georgia"/>
                <a:cs typeface="Georgia"/>
              </a:rPr>
              <a:t>uchun onlayn</a:t>
            </a:r>
          </a:p>
          <a:p xmlns:a="http://schemas.openxmlformats.org/drawingml/2006/main">
            <a:pPr>
              <a:defRPr sz="5175" b="0" i="0">
                <a:solidFill>
                  <a:srgbClr val="261A20"/>
                </a:solidFill>
                <a:latin typeface="Georgia"/>
                <a:ea typeface="Georgia"/>
                <a:cs typeface="Georgia"/>
              </a:defRPr>
            </a:pPr>
            <a:r>
              <a:rPr sz="5175" b="0" i="0">
                <a:solidFill>
                  <a:srgbClr val="261A20"/>
                </a:solidFill>
                <a:latin typeface="Georgia"/>
                <a:ea typeface="Georgia"/>
                <a:cs typeface="Georgia"/>
              </a:rPr>
              <a:t>vitrina</a:t>
            </a:r>
          </a:p>
        </p:txBody>
      </p:sp>
      <p:sp>
        <p:nvSpPr>
          <p:cNvPr id="4" name="Veb sayt, boshqaruv paneli&#10;va Telegram xabarnomalari">
            <a:extLst xmlns:a="http://schemas.openxmlformats.org/drawingml/2006/main">
              <a:ext uri="{FF2B5EF4-FFF2-40B4-BE49-F238E27FC236}">
                <a16:creationId xmlns:a16="http://schemas.microsoft.com/office/drawing/2014/main" id="{AC502EB1-D89E-42FF-A1BC-4D5E08AF24A0}"/>
              </a:ext>
            </a:extLst>
          </p:cNvPr>
          <p:cNvSpPr>
            <a:spLocks xmlns:a="http://schemas.openxmlformats.org/drawingml/2006/main" noGrp="1"/>
          </p:cNvSpPr>
          <p:nvPr/>
        </p:nvSpPr>
        <p:spPr>
          <a:xfrm xmlns:a="http://schemas.openxmlformats.org/drawingml/2006/main">
            <a:off x="628650" y="4552950"/>
            <a:ext cx="57626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i="0">
                <a:solidFill>
                  <a:srgbClr val="622C46"/>
                </a:solidFill>
                <a:latin typeface="Arial"/>
                <a:ea typeface="Arial"/>
                <a:cs typeface="Arial"/>
              </a:defRPr>
            </a:defPPr>
          </a:lstStyle>
          <a:p xmlns:a="http://schemas.openxmlformats.org/drawingml/2006/main">
            <a:pPr>
              <a:defRPr sz="2025" b="0" i="0">
                <a:solidFill>
                  <a:srgbClr val="622C46"/>
                </a:solidFill>
                <a:latin typeface="Arial"/>
                <a:ea typeface="Arial"/>
                <a:cs typeface="Arial"/>
              </a:defRPr>
            </a:pPr>
            <a:r>
              <a:rPr sz="2025" b="0" i="0">
                <a:solidFill>
                  <a:srgbClr val="622C46"/>
                </a:solidFill>
                <a:latin typeface="Arial"/>
                <a:ea typeface="Arial"/>
                <a:cs typeface="Arial"/>
              </a:rPr>
              <a:t>Veb sayt, boshqaruv paneli</a:t>
            </a:r>
          </a:p>
          <a:p xmlns:a="http://schemas.openxmlformats.org/drawingml/2006/main">
            <a:pPr>
              <a:defRPr sz="2025" b="0" i="0">
                <a:solidFill>
                  <a:srgbClr val="622C46"/>
                </a:solidFill>
                <a:latin typeface="Arial"/>
                <a:ea typeface="Arial"/>
                <a:cs typeface="Arial"/>
              </a:defRPr>
            </a:pPr>
            <a:r>
              <a:rPr sz="2025" b="0" i="0">
                <a:solidFill>
                  <a:srgbClr val="622C46"/>
                </a:solidFill>
                <a:latin typeface="Arial"/>
                <a:ea typeface="Arial"/>
                <a:cs typeface="Arial"/>
              </a:rPr>
              <a:t>va Telegram xabarnomalari</a:t>
            </a:r>
          </a:p>
        </p:txBody>
      </p:sp>
      <p:sp>
        <p:nvSpPr>
          <p:cNvPr id="5" name="Mijoz narx va o‘lchamni oldindan ko‘radi.&#10;Sotuvchingiz bir xil savolla">
            <a:extLst xmlns:a="http://schemas.openxmlformats.org/drawingml/2006/main">
              <a:ext uri="{FF2B5EF4-FFF2-40B4-BE49-F238E27FC236}">
                <a16:creationId xmlns:a16="http://schemas.microsoft.com/office/drawing/2014/main" id="{3BFC2C9F-7A04-4A61-A07D-EE0CADFECCF3}"/>
              </a:ext>
            </a:extLst>
          </p:cNvPr>
          <p:cNvSpPr>
            <a:spLocks xmlns:a="http://schemas.openxmlformats.org/drawingml/2006/main" noGrp="1"/>
          </p:cNvSpPr>
          <p:nvPr/>
        </p:nvSpPr>
        <p:spPr>
          <a:xfrm xmlns:a="http://schemas.openxmlformats.org/drawingml/2006/main">
            <a:off x="628650" y="5476875"/>
            <a:ext cx="5810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i="0">
                <a:solidFill>
                  <a:srgbClr val="655A5C"/>
                </a:solidFill>
                <a:latin typeface="Arial"/>
                <a:ea typeface="Arial"/>
                <a:cs typeface="Arial"/>
              </a:defRPr>
            </a:defPPr>
          </a:lstStyle>
          <a:p xmlns:a="http://schemas.openxmlformats.org/drawingml/2006/main">
            <a:pPr>
              <a:defRPr sz="1725" b="0" i="0">
                <a:solidFill>
                  <a:srgbClr val="655A5C"/>
                </a:solidFill>
                <a:latin typeface="Arial"/>
                <a:ea typeface="Arial"/>
                <a:cs typeface="Arial"/>
              </a:defRPr>
            </a:pPr>
            <a:r>
              <a:rPr sz="1725" b="0" i="0">
                <a:solidFill>
                  <a:srgbClr val="655A5C"/>
                </a:solidFill>
                <a:latin typeface="Arial"/>
                <a:ea typeface="Arial"/>
                <a:cs typeface="Arial"/>
              </a:rPr>
              <a:t>Mijoz narx va o‘lchamni oldindan ko‘radi.</a:t>
            </a:r>
          </a:p>
          <a:p xmlns:a="http://schemas.openxmlformats.org/drawingml/2006/main">
            <a:pPr>
              <a:defRPr sz="1725" b="0" i="0">
                <a:solidFill>
                  <a:srgbClr val="655A5C"/>
                </a:solidFill>
                <a:latin typeface="Arial"/>
                <a:ea typeface="Arial"/>
                <a:cs typeface="Arial"/>
              </a:defRPr>
            </a:pPr>
            <a:r>
              <a:rPr sz="1725" b="0" i="0">
                <a:solidFill>
                  <a:srgbClr val="655A5C"/>
                </a:solidFill>
                <a:latin typeface="Arial"/>
                <a:ea typeface="Arial"/>
                <a:cs typeface="Arial"/>
              </a:rPr>
              <a:t>Sotuvchingiz bir xil savollarga</a:t>
            </a:r>
          </a:p>
          <a:p xmlns:a="http://schemas.openxmlformats.org/drawingml/2006/main">
            <a:pPr>
              <a:defRPr sz="1725" b="0" i="0">
                <a:solidFill>
                  <a:srgbClr val="655A5C"/>
                </a:solidFill>
                <a:latin typeface="Arial"/>
                <a:ea typeface="Arial"/>
                <a:cs typeface="Arial"/>
              </a:defRPr>
            </a:pPr>
            <a:r>
              <a:rPr sz="1725" b="0" i="0">
                <a:solidFill>
                  <a:srgbClr val="655A5C"/>
                </a:solidFill>
                <a:latin typeface="Arial"/>
                <a:ea typeface="Arial"/>
                <a:cs typeface="Arial"/>
              </a:rPr>
              <a:t>kamroq vaqt sarflaydi.</a:t>
            </a:r>
          </a:p>
        </p:txBody>
      </p:sp>
    </p:spTree>
    <p:extLst>
      <p:ext uri="{BB962C8B-B14F-4D97-AF65-F5344CB8AC3E}">
        <p14:creationId xmlns:p14="http://schemas.microsoft.com/office/powerpoint/2010/main" val="540387647"/>
      </p:ext>
    </p:extLst>
  </p:cSld>
</p:sld>
</file>

<file path=ppt/slides/slide2.xml><?xml version="1.0" encoding="utf-8"?>
<p:sld xmlns:p="http://schemas.openxmlformats.org/presentationml/2006/main">
  <p:cSld>
    <p:bg>
      <p:bgPr>
        <a:solidFill xmlns:a="http://schemas.openxmlformats.org/drawingml/2006/main">
          <a:srgbClr val="F6F0E7"/>
        </a:solidFill>
      </p:bgPr>
    </p:bg>
    <p:spTree>
      <p:nvGrpSpPr>
        <p:cNvPr id="1" name=""/>
        <p:cNvGrpSpPr/>
        <p:nvPr/>
      </p:nvGrpSpPr>
      <p:grpSpPr>
        <a:xfrm xmlns:a="http://schemas.openxmlformats.org/drawingml/2006/main"/>
      </p:grpSpPr>
      <p:sp>
        <p:nvSpPr>
          <p:cNvPr id="13" name="Mijoz uchun qulay tanlov">
            <a:extLst xmlns:a="http://schemas.openxmlformats.org/drawingml/2006/main">
              <a:ext uri="{FF2B5EF4-FFF2-40B4-BE49-F238E27FC236}">
                <a16:creationId xmlns:a16="http://schemas.microsoft.com/office/drawing/2014/main" id="{AF7DBC43-328D-4254-9C62-80E3C2753BC0}"/>
              </a:ext>
            </a:extLst>
          </p:cNvPr>
          <p:cNvSpPr>
            <a:spLocks xmlns:a="http://schemas.openxmlformats.org/drawingml/2006/main" noGrp="1"/>
          </p:cNvSpPr>
          <p:nvPr/>
        </p:nvSpPr>
        <p:spPr>
          <a:xfrm xmlns:a="http://schemas.openxmlformats.org/drawingml/2006/main">
            <a:off x="552450" y="476250"/>
            <a:ext cx="11049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525" b="0" i="0">
                <a:solidFill>
                  <a:srgbClr val="261A20"/>
                </a:solidFill>
                <a:latin typeface="Georgia"/>
                <a:ea typeface="Georgia"/>
                <a:cs typeface="Georgia"/>
              </a:defRPr>
            </a:defPPr>
          </a:lstStyle>
          <a:p xmlns:a="http://schemas.openxmlformats.org/drawingml/2006/main">
            <a:pPr>
              <a:defRPr sz="3525" b="0" i="0">
                <a:solidFill>
                  <a:srgbClr val="261A20"/>
                </a:solidFill>
                <a:latin typeface="Georgia"/>
                <a:ea typeface="Georgia"/>
                <a:cs typeface="Georgia"/>
              </a:defRPr>
            </a:pPr>
            <a:r>
              <a:rPr sz="3525" b="0" i="0">
                <a:solidFill>
                  <a:srgbClr val="261A20"/>
                </a:solidFill>
                <a:latin typeface="Georgia"/>
                <a:ea typeface="Georgia"/>
                <a:cs typeface="Georgia"/>
              </a:rPr>
              <a:t>Mijoz uchun qulay tanlov</a:t>
            </a:r>
          </a:p>
        </p:txBody>
      </p:sp>
      <p:pic>
        <p:nvPicPr>
          <p:cNvPr id="2" name="">
            <a:extLst xmlns:a="http://schemas.openxmlformats.org/drawingml/2006/main">
              <a:ext uri="{FF2B5EF4-FFF2-40B4-BE49-F238E27FC236}">
                <a16:creationId xmlns:a16="http://schemas.microsoft.com/office/drawing/2014/main" id="{594A3416-7AD3-415F-982E-DEEA14303B98}"/>
              </a:ext>
            </a:extLst>
          </p:cNvPr>
          <p:cNvPicPr>
            <a:picLocks xmlns:a="http://schemas.openxmlformats.org/drawingml/2006/main" noChangeAspect="1"/>
          </p:cNvPicPr>
          <p:nvPr/>
        </p:nvPicPr>
        <p:blipFill>
          <a:blip xmlns:r="http://schemas.openxmlformats.org/officeDocument/2006/relationships" xmlns:a="http://schemas.openxmlformats.org/drawingml/2006/main" r:embed="R7cdece64a1c6442b"/>
          <a:stretch xmlns:a="http://schemas.openxmlformats.org/drawingml/2006/main"/>
        </p:blipFill>
        <p:spPr>
          <a:xfrm xmlns:a="http://schemas.openxmlformats.org/drawingml/2006/main">
            <a:off x="749046" y="1419225"/>
            <a:ext cx="6693408" cy="4648200"/>
          </a:xfrm>
          <a:prstGeom xmlns:a="http://schemas.openxmlformats.org/drawingml/2006/main" prst="rect">
            <a:avLst/>
          </a:prstGeom>
        </p:spPr>
      </p:pic>
      <p:sp>
        <p:nvSpPr>
          <p:cNvPr id="3" name="Kiyimni tez topadi">
            <a:extLst xmlns:a="http://schemas.openxmlformats.org/drawingml/2006/main">
              <a:ext uri="{FF2B5EF4-FFF2-40B4-BE49-F238E27FC236}">
                <a16:creationId xmlns:a16="http://schemas.microsoft.com/office/drawing/2014/main" id="{311B966D-20AB-42F8-92F1-AE12AB22A18B}"/>
              </a:ext>
            </a:extLst>
          </p:cNvPr>
          <p:cNvSpPr>
            <a:spLocks xmlns:a="http://schemas.openxmlformats.org/drawingml/2006/main" noGrp="1"/>
          </p:cNvSpPr>
          <p:nvPr/>
        </p:nvSpPr>
        <p:spPr>
          <a:xfrm xmlns:a="http://schemas.openxmlformats.org/drawingml/2006/main">
            <a:off x="8162925" y="1504950"/>
            <a:ext cx="34766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i="0">
                <a:solidFill>
                  <a:srgbClr val="261A20"/>
                </a:solidFill>
                <a:latin typeface="Arial"/>
                <a:ea typeface="Arial"/>
                <a:cs typeface="Arial"/>
              </a:defRPr>
            </a:defPPr>
          </a:lstStyle>
          <a:p xmlns:a="http://schemas.openxmlformats.org/drawingml/2006/main">
            <a:pPr>
              <a:defRPr sz="2025" b="1" i="0">
                <a:solidFill>
                  <a:srgbClr val="261A20"/>
                </a:solidFill>
                <a:latin typeface="Arial"/>
                <a:ea typeface="Arial"/>
                <a:cs typeface="Arial"/>
              </a:defRPr>
            </a:pPr>
            <a:r>
              <a:rPr sz="2025" b="1" i="0">
                <a:solidFill>
                  <a:srgbClr val="261A20"/>
                </a:solidFill>
                <a:latin typeface="Arial"/>
                <a:ea typeface="Arial"/>
                <a:cs typeface="Arial"/>
              </a:rPr>
              <a:t>Kiyimni tez topadi</a:t>
            </a:r>
          </a:p>
        </p:txBody>
      </p:sp>
      <p:sp>
        <p:nvSpPr>
          <p:cNvPr id="4" name="Kategoriya, rang, o‘lcham va budjet&#10;bo‘yicha saralaydi.">
            <a:extLst xmlns:a="http://schemas.openxmlformats.org/drawingml/2006/main">
              <a:ext uri="{FF2B5EF4-FFF2-40B4-BE49-F238E27FC236}">
                <a16:creationId xmlns:a16="http://schemas.microsoft.com/office/drawing/2014/main" id="{CE52B98F-0CA7-40D9-9664-D0D9FDDEC02C}"/>
              </a:ext>
            </a:extLst>
          </p:cNvPr>
          <p:cNvSpPr>
            <a:spLocks xmlns:a="http://schemas.openxmlformats.org/drawingml/2006/main" noGrp="1"/>
          </p:cNvSpPr>
          <p:nvPr/>
        </p:nvSpPr>
        <p:spPr>
          <a:xfrm xmlns:a="http://schemas.openxmlformats.org/drawingml/2006/main">
            <a:off x="8162925" y="1914525"/>
            <a:ext cx="3476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i="0">
                <a:solidFill>
                  <a:srgbClr val="655A5C"/>
                </a:solidFill>
                <a:latin typeface="Arial"/>
                <a:ea typeface="Arial"/>
                <a:cs typeface="Arial"/>
              </a:defRPr>
            </a:defPPr>
          </a:lstStyle>
          <a:p xmlns:a="http://schemas.openxmlformats.org/drawingml/2006/main">
            <a:pPr>
              <a:defRPr sz="1725" b="0" i="0">
                <a:solidFill>
                  <a:srgbClr val="655A5C"/>
                </a:solidFill>
                <a:latin typeface="Arial"/>
                <a:ea typeface="Arial"/>
                <a:cs typeface="Arial"/>
              </a:defRPr>
            </a:pPr>
            <a:r>
              <a:rPr sz="1725" b="0" i="0">
                <a:solidFill>
                  <a:srgbClr val="655A5C"/>
                </a:solidFill>
                <a:latin typeface="Arial"/>
                <a:ea typeface="Arial"/>
                <a:cs typeface="Arial"/>
              </a:rPr>
              <a:t>Kategoriya, rang, o‘lcham va budjet</a:t>
            </a:r>
          </a:p>
          <a:p xmlns:a="http://schemas.openxmlformats.org/drawingml/2006/main">
            <a:pPr>
              <a:defRPr sz="1725" b="0" i="0">
                <a:solidFill>
                  <a:srgbClr val="655A5C"/>
                </a:solidFill>
                <a:latin typeface="Arial"/>
                <a:ea typeface="Arial"/>
                <a:cs typeface="Arial"/>
              </a:defRPr>
            </a:pPr>
            <a:r>
              <a:rPr sz="1725" b="0" i="0">
                <a:solidFill>
                  <a:srgbClr val="655A5C"/>
                </a:solidFill>
                <a:latin typeface="Arial"/>
                <a:ea typeface="Arial"/>
                <a:cs typeface="Arial"/>
              </a:rPr>
              <a:t>bo‘yicha saralaydi.</a:t>
            </a:r>
          </a:p>
        </p:txBody>
      </p:sp>
      <p:sp>
        <p:nvSpPr>
          <p:cNvPr id="5" name="Ma’lumotni oldindan ko‘radi">
            <a:extLst xmlns:a="http://schemas.openxmlformats.org/drawingml/2006/main">
              <a:ext uri="{FF2B5EF4-FFF2-40B4-BE49-F238E27FC236}">
                <a16:creationId xmlns:a16="http://schemas.microsoft.com/office/drawing/2014/main" id="{1C5AEC3D-4609-4AAF-B856-C955ADAF5EA4}"/>
              </a:ext>
            </a:extLst>
          </p:cNvPr>
          <p:cNvSpPr>
            <a:spLocks xmlns:a="http://schemas.openxmlformats.org/drawingml/2006/main" noGrp="1"/>
          </p:cNvSpPr>
          <p:nvPr/>
        </p:nvSpPr>
        <p:spPr>
          <a:xfrm xmlns:a="http://schemas.openxmlformats.org/drawingml/2006/main">
            <a:off x="8162925" y="2771775"/>
            <a:ext cx="34766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i="0">
                <a:solidFill>
                  <a:srgbClr val="261A20"/>
                </a:solidFill>
                <a:latin typeface="Arial"/>
                <a:ea typeface="Arial"/>
                <a:cs typeface="Arial"/>
              </a:defRPr>
            </a:defPPr>
          </a:lstStyle>
          <a:p xmlns:a="http://schemas.openxmlformats.org/drawingml/2006/main">
            <a:pPr>
              <a:defRPr sz="2025" b="1" i="0">
                <a:solidFill>
                  <a:srgbClr val="261A20"/>
                </a:solidFill>
                <a:latin typeface="Arial"/>
                <a:ea typeface="Arial"/>
                <a:cs typeface="Arial"/>
              </a:defRPr>
            </a:pPr>
            <a:r>
              <a:rPr sz="2025" b="1" i="0">
                <a:solidFill>
                  <a:srgbClr val="261A20"/>
                </a:solidFill>
                <a:latin typeface="Arial"/>
                <a:ea typeface="Arial"/>
                <a:cs typeface="Arial"/>
              </a:rPr>
              <a:t>Ma’lumotni oldindan ko‘radi</a:t>
            </a:r>
          </a:p>
        </p:txBody>
      </p:sp>
      <p:sp>
        <p:nvSpPr>
          <p:cNvPr id="6" name="Surat, narx, mato, variantlar&#10;va mavjud qoldiq bir joyda.">
            <a:extLst xmlns:a="http://schemas.openxmlformats.org/drawingml/2006/main">
              <a:ext uri="{FF2B5EF4-FFF2-40B4-BE49-F238E27FC236}">
                <a16:creationId xmlns:a16="http://schemas.microsoft.com/office/drawing/2014/main" id="{FA164146-59D3-4E91-9FBA-6509B9B6883C}"/>
              </a:ext>
            </a:extLst>
          </p:cNvPr>
          <p:cNvSpPr>
            <a:spLocks xmlns:a="http://schemas.openxmlformats.org/drawingml/2006/main" noGrp="1"/>
          </p:cNvSpPr>
          <p:nvPr/>
        </p:nvSpPr>
        <p:spPr>
          <a:xfrm xmlns:a="http://schemas.openxmlformats.org/drawingml/2006/main">
            <a:off x="8162925" y="3181350"/>
            <a:ext cx="3476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i="0">
                <a:solidFill>
                  <a:srgbClr val="655A5C"/>
                </a:solidFill>
                <a:latin typeface="Arial"/>
                <a:ea typeface="Arial"/>
                <a:cs typeface="Arial"/>
              </a:defRPr>
            </a:defPPr>
          </a:lstStyle>
          <a:p xmlns:a="http://schemas.openxmlformats.org/drawingml/2006/main">
            <a:pPr>
              <a:defRPr sz="1725" b="0" i="0">
                <a:solidFill>
                  <a:srgbClr val="655A5C"/>
                </a:solidFill>
                <a:latin typeface="Arial"/>
                <a:ea typeface="Arial"/>
                <a:cs typeface="Arial"/>
              </a:defRPr>
            </a:pPr>
            <a:r>
              <a:rPr sz="1725" b="0" i="0">
                <a:solidFill>
                  <a:srgbClr val="655A5C"/>
                </a:solidFill>
                <a:latin typeface="Arial"/>
                <a:ea typeface="Arial"/>
                <a:cs typeface="Arial"/>
              </a:rPr>
              <a:t>Surat, narx, mato, variantlar</a:t>
            </a:r>
          </a:p>
          <a:p xmlns:a="http://schemas.openxmlformats.org/drawingml/2006/main">
            <a:pPr>
              <a:defRPr sz="1725" b="0" i="0">
                <a:solidFill>
                  <a:srgbClr val="655A5C"/>
                </a:solidFill>
                <a:latin typeface="Arial"/>
                <a:ea typeface="Arial"/>
                <a:cs typeface="Arial"/>
              </a:defRPr>
            </a:pPr>
            <a:r>
              <a:rPr sz="1725" b="0" i="0">
                <a:solidFill>
                  <a:srgbClr val="655A5C"/>
                </a:solidFill>
                <a:latin typeface="Arial"/>
                <a:ea typeface="Arial"/>
                <a:cs typeface="Arial"/>
              </a:rPr>
              <a:t>va mavjud qoldiq bir joyda.</a:t>
            </a:r>
          </a:p>
        </p:txBody>
      </p:sp>
      <p:sp>
        <p:nvSpPr>
          <p:cNvPr id="7" name="Mos variantni tanlaydi">
            <a:extLst xmlns:a="http://schemas.openxmlformats.org/drawingml/2006/main">
              <a:ext uri="{FF2B5EF4-FFF2-40B4-BE49-F238E27FC236}">
                <a16:creationId xmlns:a16="http://schemas.microsoft.com/office/drawing/2014/main" id="{EC5DAFAA-0829-4D6E-8064-69BF7B5ADCC2}"/>
              </a:ext>
            </a:extLst>
          </p:cNvPr>
          <p:cNvSpPr>
            <a:spLocks xmlns:a="http://schemas.openxmlformats.org/drawingml/2006/main" noGrp="1"/>
          </p:cNvSpPr>
          <p:nvPr/>
        </p:nvSpPr>
        <p:spPr>
          <a:xfrm xmlns:a="http://schemas.openxmlformats.org/drawingml/2006/main">
            <a:off x="8162925" y="4038600"/>
            <a:ext cx="34766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i="0">
                <a:solidFill>
                  <a:srgbClr val="261A20"/>
                </a:solidFill>
                <a:latin typeface="Arial"/>
                <a:ea typeface="Arial"/>
                <a:cs typeface="Arial"/>
              </a:defRPr>
            </a:defPPr>
          </a:lstStyle>
          <a:p xmlns:a="http://schemas.openxmlformats.org/drawingml/2006/main">
            <a:pPr>
              <a:defRPr sz="2025" b="1" i="0">
                <a:solidFill>
                  <a:srgbClr val="261A20"/>
                </a:solidFill>
                <a:latin typeface="Arial"/>
                <a:ea typeface="Arial"/>
                <a:cs typeface="Arial"/>
              </a:defRPr>
            </a:pPr>
            <a:r>
              <a:rPr sz="2025" b="1" i="0">
                <a:solidFill>
                  <a:srgbClr val="261A20"/>
                </a:solidFill>
                <a:latin typeface="Arial"/>
                <a:ea typeface="Arial"/>
                <a:cs typeface="Arial"/>
              </a:rPr>
              <a:t>Mos variantni tanlaydi</a:t>
            </a:r>
          </a:p>
        </p:txBody>
      </p:sp>
      <p:sp>
        <p:nvSpPr>
          <p:cNvPr id="8" name="Taqqoslash, sevimlilar, tayyor&#10;obrazlar va uslub tanlash.">
            <a:extLst xmlns:a="http://schemas.openxmlformats.org/drawingml/2006/main">
              <a:ext uri="{FF2B5EF4-FFF2-40B4-BE49-F238E27FC236}">
                <a16:creationId xmlns:a16="http://schemas.microsoft.com/office/drawing/2014/main" id="{D921EE82-8357-472F-BDE5-D4D076DE89F5}"/>
              </a:ext>
            </a:extLst>
          </p:cNvPr>
          <p:cNvSpPr>
            <a:spLocks xmlns:a="http://schemas.openxmlformats.org/drawingml/2006/main" noGrp="1"/>
          </p:cNvSpPr>
          <p:nvPr/>
        </p:nvSpPr>
        <p:spPr>
          <a:xfrm xmlns:a="http://schemas.openxmlformats.org/drawingml/2006/main">
            <a:off x="8162925" y="4448175"/>
            <a:ext cx="3476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i="0">
                <a:solidFill>
                  <a:srgbClr val="655A5C"/>
                </a:solidFill>
                <a:latin typeface="Arial"/>
                <a:ea typeface="Arial"/>
                <a:cs typeface="Arial"/>
              </a:defRPr>
            </a:defPPr>
          </a:lstStyle>
          <a:p xmlns:a="http://schemas.openxmlformats.org/drawingml/2006/main">
            <a:pPr>
              <a:defRPr sz="1725" b="0" i="0">
                <a:solidFill>
                  <a:srgbClr val="655A5C"/>
                </a:solidFill>
                <a:latin typeface="Arial"/>
                <a:ea typeface="Arial"/>
                <a:cs typeface="Arial"/>
              </a:defRPr>
            </a:pPr>
            <a:r>
              <a:rPr sz="1725" b="0" i="0">
                <a:solidFill>
                  <a:srgbClr val="655A5C"/>
                </a:solidFill>
                <a:latin typeface="Arial"/>
                <a:ea typeface="Arial"/>
                <a:cs typeface="Arial"/>
              </a:rPr>
              <a:t>Taqqoslash, sevimlilar, tayyor</a:t>
            </a:r>
          </a:p>
          <a:p xmlns:a="http://schemas.openxmlformats.org/drawingml/2006/main">
            <a:pPr>
              <a:defRPr sz="1725" b="0" i="0">
                <a:solidFill>
                  <a:srgbClr val="655A5C"/>
                </a:solidFill>
                <a:latin typeface="Arial"/>
                <a:ea typeface="Arial"/>
                <a:cs typeface="Arial"/>
              </a:defRPr>
            </a:pPr>
            <a:r>
              <a:rPr sz="1725" b="0" i="0">
                <a:solidFill>
                  <a:srgbClr val="655A5C"/>
                </a:solidFill>
                <a:latin typeface="Arial"/>
                <a:ea typeface="Arial"/>
                <a:cs typeface="Arial"/>
              </a:rPr>
              <a:t>obrazlar va uslub tanlash.</a:t>
            </a:r>
          </a:p>
        </p:txBody>
      </p:sp>
      <p:sp>
        <p:nvSpPr>
          <p:cNvPr id="9" name="Savatcha va buyurtma">
            <a:extLst xmlns:a="http://schemas.openxmlformats.org/drawingml/2006/main">
              <a:ext uri="{FF2B5EF4-FFF2-40B4-BE49-F238E27FC236}">
                <a16:creationId xmlns:a16="http://schemas.microsoft.com/office/drawing/2014/main" id="{49BA2235-1F25-4A57-864D-B8995D0C400D}"/>
              </a:ext>
            </a:extLst>
          </p:cNvPr>
          <p:cNvSpPr>
            <a:spLocks xmlns:a="http://schemas.openxmlformats.org/drawingml/2006/main" noGrp="1"/>
          </p:cNvSpPr>
          <p:nvPr/>
        </p:nvSpPr>
        <p:spPr>
          <a:xfrm xmlns:a="http://schemas.openxmlformats.org/drawingml/2006/main">
            <a:off x="8162925" y="5343525"/>
            <a:ext cx="3476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i="0">
                <a:solidFill>
                  <a:srgbClr val="261A20"/>
                </a:solidFill>
                <a:latin typeface="Arial"/>
                <a:ea typeface="Arial"/>
                <a:cs typeface="Arial"/>
              </a:defRPr>
            </a:defPPr>
          </a:lstStyle>
          <a:p xmlns:a="http://schemas.openxmlformats.org/drawingml/2006/main">
            <a:pPr>
              <a:defRPr sz="2025" b="1" i="0">
                <a:solidFill>
                  <a:srgbClr val="261A20"/>
                </a:solidFill>
                <a:latin typeface="Arial"/>
                <a:ea typeface="Arial"/>
                <a:cs typeface="Arial"/>
              </a:defRPr>
            </a:pPr>
            <a:r>
              <a:rPr sz="2025" b="1" i="0">
                <a:solidFill>
                  <a:srgbClr val="261A20"/>
                </a:solidFill>
                <a:latin typeface="Arial"/>
                <a:ea typeface="Arial"/>
                <a:cs typeface="Arial"/>
              </a:rPr>
              <a:t>Savatcha va buyurtma</a:t>
            </a:r>
          </a:p>
        </p:txBody>
      </p:sp>
      <p:sp>
        <p:nvSpPr>
          <p:cNvPr id="10" name="Olib ketish yoki yetkazish&#10;do‘kon qoidalariga mos ishlaydi.">
            <a:extLst xmlns:a="http://schemas.openxmlformats.org/drawingml/2006/main">
              <a:ext uri="{FF2B5EF4-FFF2-40B4-BE49-F238E27FC236}">
                <a16:creationId xmlns:a16="http://schemas.microsoft.com/office/drawing/2014/main" id="{39B6A462-0EA7-4D88-B6F1-54FEE47AC0B4}"/>
              </a:ext>
            </a:extLst>
          </p:cNvPr>
          <p:cNvSpPr>
            <a:spLocks xmlns:a="http://schemas.openxmlformats.org/drawingml/2006/main" noGrp="1"/>
          </p:cNvSpPr>
          <p:nvPr/>
        </p:nvSpPr>
        <p:spPr>
          <a:xfrm xmlns:a="http://schemas.openxmlformats.org/drawingml/2006/main">
            <a:off x="8162925" y="5724525"/>
            <a:ext cx="347662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i="0">
                <a:solidFill>
                  <a:srgbClr val="655A5C"/>
                </a:solidFill>
                <a:latin typeface="Arial"/>
                <a:ea typeface="Arial"/>
                <a:cs typeface="Arial"/>
              </a:defRPr>
            </a:defPPr>
          </a:lstStyle>
          <a:p xmlns:a="http://schemas.openxmlformats.org/drawingml/2006/main">
            <a:pPr>
              <a:defRPr sz="1725" b="0" i="0">
                <a:solidFill>
                  <a:srgbClr val="655A5C"/>
                </a:solidFill>
                <a:latin typeface="Arial"/>
                <a:ea typeface="Arial"/>
                <a:cs typeface="Arial"/>
              </a:defRPr>
            </a:pPr>
            <a:r>
              <a:rPr sz="1725" b="0" i="0">
                <a:solidFill>
                  <a:srgbClr val="655A5C"/>
                </a:solidFill>
                <a:latin typeface="Arial"/>
                <a:ea typeface="Arial"/>
                <a:cs typeface="Arial"/>
              </a:rPr>
              <a:t>Olib ketish yoki yetkazish</a:t>
            </a:r>
          </a:p>
          <a:p xmlns:a="http://schemas.openxmlformats.org/drawingml/2006/main">
            <a:pPr>
              <a:defRPr sz="1725" b="0" i="0">
                <a:solidFill>
                  <a:srgbClr val="655A5C"/>
                </a:solidFill>
                <a:latin typeface="Arial"/>
                <a:ea typeface="Arial"/>
                <a:cs typeface="Arial"/>
              </a:defRPr>
            </a:pPr>
            <a:r>
              <a:rPr sz="1725" b="0" i="0">
                <a:solidFill>
                  <a:srgbClr val="655A5C"/>
                </a:solidFill>
                <a:latin typeface="Arial"/>
                <a:ea typeface="Arial"/>
                <a:cs typeface="Arial"/>
              </a:rPr>
              <a:t>do‘kon qoidalariga mos ishlaydi.</a:t>
            </a:r>
          </a:p>
        </p:txBody>
      </p:sp>
      <p:sp>
        <p:nvSpPr>
          <p:cNvPr id="11" name="Telefon va kompyuterga mos. Demo katalogda 36 ta namuna model.">
            <a:extLst xmlns:a="http://schemas.openxmlformats.org/drawingml/2006/main">
              <a:ext uri="{FF2B5EF4-FFF2-40B4-BE49-F238E27FC236}">
                <a16:creationId xmlns:a16="http://schemas.microsoft.com/office/drawing/2014/main" id="{011834A6-EAD1-4308-B47D-5623286D230B}"/>
              </a:ext>
            </a:extLst>
          </p:cNvPr>
          <p:cNvSpPr>
            <a:spLocks xmlns:a="http://schemas.openxmlformats.org/drawingml/2006/main" noGrp="1"/>
          </p:cNvSpPr>
          <p:nvPr/>
        </p:nvSpPr>
        <p:spPr>
          <a:xfrm xmlns:a="http://schemas.openxmlformats.org/drawingml/2006/main">
            <a:off x="552450" y="6286500"/>
            <a:ext cx="971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i="0">
                <a:solidFill>
                  <a:srgbClr val="655A5C"/>
                </a:solidFill>
                <a:latin typeface="Arial"/>
                <a:ea typeface="Arial"/>
                <a:cs typeface="Arial"/>
              </a:defRPr>
            </a:defPPr>
          </a:lstStyle>
          <a:p xmlns:a="http://schemas.openxmlformats.org/drawingml/2006/main">
            <a:pPr>
              <a:defRPr sz="1350" b="0" i="0">
                <a:solidFill>
                  <a:srgbClr val="655A5C"/>
                </a:solidFill>
                <a:latin typeface="Arial"/>
                <a:ea typeface="Arial"/>
                <a:cs typeface="Arial"/>
              </a:defRPr>
            </a:pPr>
            <a:r>
              <a:rPr sz="1350" b="0" i="0">
                <a:solidFill>
                  <a:srgbClr val="655A5C"/>
                </a:solidFill>
                <a:latin typeface="Arial"/>
                <a:ea typeface="Arial"/>
                <a:cs typeface="Arial"/>
              </a:rPr>
              <a:t>Telefon va kompyuterga mos. Demo katalogda 36 ta namuna model.</a:t>
            </a:r>
          </a:p>
        </p:txBody>
      </p:sp>
      <p:sp>
        <p:nvSpPr>
          <p:cNvPr id="12" name="02 / 06">
            <a:extLst xmlns:a="http://schemas.openxmlformats.org/drawingml/2006/main">
              <a:ext uri="{FF2B5EF4-FFF2-40B4-BE49-F238E27FC236}">
                <a16:creationId xmlns:a16="http://schemas.microsoft.com/office/drawing/2014/main" id="{BDF290A0-2A5B-4B3A-AC2E-37CE793BD970}"/>
              </a:ext>
            </a:extLst>
          </p:cNvPr>
          <p:cNvSpPr>
            <a:spLocks xmlns:a="http://schemas.openxmlformats.org/drawingml/2006/main" noGrp="1"/>
          </p:cNvSpPr>
          <p:nvPr/>
        </p:nvSpPr>
        <p:spPr>
          <a:xfrm xmlns:a="http://schemas.openxmlformats.org/drawingml/2006/main">
            <a:off x="10963275" y="6391275"/>
            <a:ext cx="76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i="0">
                <a:solidFill>
                  <a:srgbClr val="655A5C"/>
                </a:solidFill>
                <a:latin typeface="Arial"/>
                <a:ea typeface="Arial"/>
                <a:cs typeface="Arial"/>
              </a:defRPr>
            </a:defPPr>
          </a:lstStyle>
          <a:p xmlns:a="http://schemas.openxmlformats.org/drawingml/2006/main">
            <a:pPr algn="r">
              <a:defRPr sz="1275" b="0" i="0">
                <a:solidFill>
                  <a:srgbClr val="655A5C"/>
                </a:solidFill>
                <a:latin typeface="Arial"/>
                <a:ea typeface="Arial"/>
                <a:cs typeface="Arial"/>
              </a:defRPr>
            </a:pPr>
            <a:r>
              <a:rPr sz="1275" b="0" i="0">
                <a:solidFill>
                  <a:srgbClr val="655A5C"/>
                </a:solidFill>
                <a:latin typeface="Arial"/>
                <a:ea typeface="Arial"/>
                <a:cs typeface="Arial"/>
              </a:rPr>
              <a:t>02 / 06</a:t>
            </a:r>
          </a:p>
        </p:txBody>
      </p:sp>
    </p:spTree>
    <p:extLst>
      <p:ext uri="{BB962C8B-B14F-4D97-AF65-F5344CB8AC3E}">
        <p14:creationId xmlns:p14="http://schemas.microsoft.com/office/powerpoint/2010/main" val="1163118766"/>
      </p:ext>
    </p:extLst>
  </p:cSld>
</p:sld>
</file>

<file path=ppt/slides/slide3.xml><?xml version="1.0" encoding="utf-8"?>
<p:sld xmlns:p="http://schemas.openxmlformats.org/presentationml/2006/main">
  <p:cSld>
    <p:bg>
      <p:bgPr>
        <a:solidFill xmlns:a="http://schemas.openxmlformats.org/drawingml/2006/main">
          <a:srgbClr val="262326"/>
        </a:solidFill>
      </p:bgPr>
    </p:bg>
    <p:spTree>
      <p:nvGrpSpPr>
        <p:cNvPr id="1" name=""/>
        <p:cNvGrpSpPr/>
        <p:nvPr/>
      </p:nvGrpSpPr>
      <p:grpSpPr>
        <a:xfrm xmlns:a="http://schemas.openxmlformats.org/drawingml/2006/main"/>
      </p:grpSpPr>
      <p:sp>
        <p:nvSpPr>
          <p:cNvPr id="13" name="Do‘kon boshqaruvi bir panelda">
            <a:extLst xmlns:a="http://schemas.openxmlformats.org/drawingml/2006/main">
              <a:ext uri="{FF2B5EF4-FFF2-40B4-BE49-F238E27FC236}">
                <a16:creationId xmlns:a16="http://schemas.microsoft.com/office/drawing/2014/main" id="{FB3FCFF2-1C6E-44E3-8814-1DFFFC4282F8}"/>
              </a:ext>
            </a:extLst>
          </p:cNvPr>
          <p:cNvSpPr>
            <a:spLocks xmlns:a="http://schemas.openxmlformats.org/drawingml/2006/main" noGrp="1"/>
          </p:cNvSpPr>
          <p:nvPr/>
        </p:nvSpPr>
        <p:spPr>
          <a:xfrm xmlns:a="http://schemas.openxmlformats.org/drawingml/2006/main">
            <a:off x="552450" y="466725"/>
            <a:ext cx="1104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0" i="0">
                <a:solidFill>
                  <a:srgbClr val="FFF9F2"/>
                </a:solidFill>
                <a:latin typeface="Georgia"/>
                <a:ea typeface="Georgia"/>
                <a:cs typeface="Georgia"/>
              </a:defRPr>
            </a:defPPr>
          </a:lstStyle>
          <a:p xmlns:a="http://schemas.openxmlformats.org/drawingml/2006/main">
            <a:pPr>
              <a:defRPr sz="3450" b="0" i="0">
                <a:solidFill>
                  <a:srgbClr val="FFF9F2"/>
                </a:solidFill>
                <a:latin typeface="Georgia"/>
                <a:ea typeface="Georgia"/>
                <a:cs typeface="Georgia"/>
              </a:defRPr>
            </a:pPr>
            <a:r>
              <a:rPr sz="3450" b="0" i="0">
                <a:solidFill>
                  <a:srgbClr val="FFF9F2"/>
                </a:solidFill>
                <a:latin typeface="Georgia"/>
                <a:ea typeface="Georgia"/>
                <a:cs typeface="Georgia"/>
              </a:rPr>
              <a:t>Do‘kon boshqaruvi bir panelda</a:t>
            </a:r>
          </a:p>
        </p:txBody>
      </p:sp>
      <p:pic>
        <p:nvPicPr>
          <p:cNvPr id="2" name="">
            <a:extLst xmlns:a="http://schemas.openxmlformats.org/drawingml/2006/main">
              <a:ext uri="{FF2B5EF4-FFF2-40B4-BE49-F238E27FC236}">
                <a16:creationId xmlns:a16="http://schemas.microsoft.com/office/drawing/2014/main" id="{C943A1D1-D5B2-4A6F-8EC6-FE54204B6CEC}"/>
              </a:ext>
            </a:extLst>
          </p:cNvPr>
          <p:cNvPicPr>
            <a:picLocks xmlns:a="http://schemas.openxmlformats.org/drawingml/2006/main" noChangeAspect="1"/>
          </p:cNvPicPr>
          <p:nvPr/>
        </p:nvPicPr>
        <p:blipFill>
          <a:blip xmlns:r="http://schemas.openxmlformats.org/officeDocument/2006/relationships" xmlns:a="http://schemas.openxmlformats.org/drawingml/2006/main" r:embed="Rec73b342f8e146ad"/>
          <a:stretch xmlns:a="http://schemas.openxmlformats.org/drawingml/2006/main"/>
        </p:blipFill>
        <p:spPr>
          <a:xfrm xmlns:a="http://schemas.openxmlformats.org/drawingml/2006/main">
            <a:off x="728663" y="1562100"/>
            <a:ext cx="6829425" cy="4552950"/>
          </a:xfrm>
          <a:prstGeom xmlns:a="http://schemas.openxmlformats.org/drawingml/2006/main" prst="rect">
            <a:avLst/>
          </a:prstGeom>
        </p:spPr>
      </p:pic>
      <p:sp>
        <p:nvSpPr>
          <p:cNvPr id="3" name="Mahsulot va variantlar">
            <a:extLst xmlns:a="http://schemas.openxmlformats.org/drawingml/2006/main">
              <a:ext uri="{FF2B5EF4-FFF2-40B4-BE49-F238E27FC236}">
                <a16:creationId xmlns:a16="http://schemas.microsoft.com/office/drawing/2014/main" id="{8264057B-54ED-4ECF-802D-F60EE6BD462D}"/>
              </a:ext>
            </a:extLst>
          </p:cNvPr>
          <p:cNvSpPr>
            <a:spLocks xmlns:a="http://schemas.openxmlformats.org/drawingml/2006/main" noGrp="1"/>
          </p:cNvSpPr>
          <p:nvPr/>
        </p:nvSpPr>
        <p:spPr>
          <a:xfrm xmlns:a="http://schemas.openxmlformats.org/drawingml/2006/main">
            <a:off x="8286750" y="1524000"/>
            <a:ext cx="335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i="0">
                <a:solidFill>
                  <a:srgbClr val="FFF9F2"/>
                </a:solidFill>
                <a:latin typeface="Arial"/>
                <a:ea typeface="Arial"/>
                <a:cs typeface="Arial"/>
              </a:defRPr>
            </a:defPPr>
          </a:lstStyle>
          <a:p xmlns:a="http://schemas.openxmlformats.org/drawingml/2006/main">
            <a:pPr>
              <a:defRPr sz="2025" b="1" i="0">
                <a:solidFill>
                  <a:srgbClr val="FFF9F2"/>
                </a:solidFill>
                <a:latin typeface="Arial"/>
                <a:ea typeface="Arial"/>
                <a:cs typeface="Arial"/>
              </a:defRPr>
            </a:pPr>
            <a:r>
              <a:rPr sz="2025" b="1" i="0">
                <a:solidFill>
                  <a:srgbClr val="FFF9F2"/>
                </a:solidFill>
                <a:latin typeface="Arial"/>
                <a:ea typeface="Arial"/>
                <a:cs typeface="Arial"/>
              </a:rPr>
              <a:t>Mahsulot va variantlar</a:t>
            </a:r>
          </a:p>
        </p:txBody>
      </p:sp>
      <p:sp>
        <p:nvSpPr>
          <p:cNvPr id="4" name="Surat, narx, rang, o‘lcham, SKU&#10;va qoldiqni o‘zgartirasiz.">
            <a:extLst xmlns:a="http://schemas.openxmlformats.org/drawingml/2006/main">
              <a:ext uri="{FF2B5EF4-FFF2-40B4-BE49-F238E27FC236}">
                <a16:creationId xmlns:a16="http://schemas.microsoft.com/office/drawing/2014/main" id="{BF22C80E-3B9D-451D-8CAC-2AF533A27CA1}"/>
              </a:ext>
            </a:extLst>
          </p:cNvPr>
          <p:cNvSpPr>
            <a:spLocks xmlns:a="http://schemas.openxmlformats.org/drawingml/2006/main" noGrp="1"/>
          </p:cNvSpPr>
          <p:nvPr/>
        </p:nvSpPr>
        <p:spPr>
          <a:xfrm xmlns:a="http://schemas.openxmlformats.org/drawingml/2006/main">
            <a:off x="8286750" y="1933575"/>
            <a:ext cx="335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i="0">
                <a:solidFill>
                  <a:srgbClr val="E6DAD4"/>
                </a:solidFill>
                <a:latin typeface="Arial"/>
                <a:ea typeface="Arial"/>
                <a:cs typeface="Arial"/>
              </a:defRPr>
            </a:defPPr>
          </a:lstStyle>
          <a:p xmlns:a="http://schemas.openxmlformats.org/drawingml/2006/main">
            <a:pPr>
              <a:defRPr sz="1725" b="0" i="0">
                <a:solidFill>
                  <a:srgbClr val="E6DAD4"/>
                </a:solidFill>
                <a:latin typeface="Arial"/>
                <a:ea typeface="Arial"/>
                <a:cs typeface="Arial"/>
              </a:defRPr>
            </a:pPr>
            <a:r>
              <a:rPr sz="1725" b="0" i="0">
                <a:solidFill>
                  <a:srgbClr val="E6DAD4"/>
                </a:solidFill>
                <a:latin typeface="Arial"/>
                <a:ea typeface="Arial"/>
                <a:cs typeface="Arial"/>
              </a:rPr>
              <a:t>Surat, narx, rang, o‘lcham, SKU</a:t>
            </a:r>
          </a:p>
          <a:p xmlns:a="http://schemas.openxmlformats.org/drawingml/2006/main">
            <a:pPr>
              <a:defRPr sz="1725" b="0" i="0">
                <a:solidFill>
                  <a:srgbClr val="E6DAD4"/>
                </a:solidFill>
                <a:latin typeface="Arial"/>
                <a:ea typeface="Arial"/>
                <a:cs typeface="Arial"/>
              </a:defRPr>
            </a:pPr>
            <a:r>
              <a:rPr sz="1725" b="0" i="0">
                <a:solidFill>
                  <a:srgbClr val="E6DAD4"/>
                </a:solidFill>
                <a:latin typeface="Arial"/>
                <a:ea typeface="Arial"/>
                <a:cs typeface="Arial"/>
              </a:rPr>
              <a:t>va qoldiqni o‘zgartirasiz.</a:t>
            </a:r>
          </a:p>
        </p:txBody>
      </p:sp>
      <p:sp>
        <p:nvSpPr>
          <p:cNvPr id="5" name="Savdo va murojaatlar">
            <a:extLst xmlns:a="http://schemas.openxmlformats.org/drawingml/2006/main">
              <a:ext uri="{FF2B5EF4-FFF2-40B4-BE49-F238E27FC236}">
                <a16:creationId xmlns:a16="http://schemas.microsoft.com/office/drawing/2014/main" id="{755B6863-2E4A-4042-8FCE-4E8617BAA576}"/>
              </a:ext>
            </a:extLst>
          </p:cNvPr>
          <p:cNvSpPr>
            <a:spLocks xmlns:a="http://schemas.openxmlformats.org/drawingml/2006/main" noGrp="1"/>
          </p:cNvSpPr>
          <p:nvPr/>
        </p:nvSpPr>
        <p:spPr>
          <a:xfrm xmlns:a="http://schemas.openxmlformats.org/drawingml/2006/main">
            <a:off x="8286750" y="2762250"/>
            <a:ext cx="335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i="0">
                <a:solidFill>
                  <a:srgbClr val="FFF9F2"/>
                </a:solidFill>
                <a:latin typeface="Arial"/>
                <a:ea typeface="Arial"/>
                <a:cs typeface="Arial"/>
              </a:defRPr>
            </a:defPPr>
          </a:lstStyle>
          <a:p xmlns:a="http://schemas.openxmlformats.org/drawingml/2006/main">
            <a:pPr>
              <a:defRPr sz="2025" b="1" i="0">
                <a:solidFill>
                  <a:srgbClr val="FFF9F2"/>
                </a:solidFill>
                <a:latin typeface="Arial"/>
                <a:ea typeface="Arial"/>
                <a:cs typeface="Arial"/>
              </a:defRPr>
            </a:pPr>
            <a:r>
              <a:rPr sz="2025" b="1" i="0">
                <a:solidFill>
                  <a:srgbClr val="FFF9F2"/>
                </a:solidFill>
                <a:latin typeface="Arial"/>
                <a:ea typeface="Arial"/>
                <a:cs typeface="Arial"/>
              </a:rPr>
              <a:t>Savdo va murojaatlar</a:t>
            </a:r>
          </a:p>
        </p:txBody>
      </p:sp>
      <p:sp>
        <p:nvSpPr>
          <p:cNvPr id="6" name="Buyurtma, kirim, sotuv hamda&#10;qaytarishni qayd qilasiz.">
            <a:extLst xmlns:a="http://schemas.openxmlformats.org/drawingml/2006/main">
              <a:ext uri="{FF2B5EF4-FFF2-40B4-BE49-F238E27FC236}">
                <a16:creationId xmlns:a16="http://schemas.microsoft.com/office/drawing/2014/main" id="{8193671A-6F75-49A3-9729-1AC1B26788EE}"/>
              </a:ext>
            </a:extLst>
          </p:cNvPr>
          <p:cNvSpPr>
            <a:spLocks xmlns:a="http://schemas.openxmlformats.org/drawingml/2006/main" noGrp="1"/>
          </p:cNvSpPr>
          <p:nvPr/>
        </p:nvSpPr>
        <p:spPr>
          <a:xfrm xmlns:a="http://schemas.openxmlformats.org/drawingml/2006/main">
            <a:off x="8286750" y="3171825"/>
            <a:ext cx="335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i="0">
                <a:solidFill>
                  <a:srgbClr val="E6DAD4"/>
                </a:solidFill>
                <a:latin typeface="Arial"/>
                <a:ea typeface="Arial"/>
                <a:cs typeface="Arial"/>
              </a:defRPr>
            </a:defPPr>
          </a:lstStyle>
          <a:p xmlns:a="http://schemas.openxmlformats.org/drawingml/2006/main">
            <a:pPr>
              <a:defRPr sz="1725" b="0" i="0">
                <a:solidFill>
                  <a:srgbClr val="E6DAD4"/>
                </a:solidFill>
                <a:latin typeface="Arial"/>
                <a:ea typeface="Arial"/>
                <a:cs typeface="Arial"/>
              </a:defRPr>
            </a:pPr>
            <a:r>
              <a:rPr sz="1725" b="0" i="0">
                <a:solidFill>
                  <a:srgbClr val="E6DAD4"/>
                </a:solidFill>
                <a:latin typeface="Arial"/>
                <a:ea typeface="Arial"/>
                <a:cs typeface="Arial"/>
              </a:rPr>
              <a:t>Buyurtma, kirim, sotuv hamda</a:t>
            </a:r>
          </a:p>
          <a:p xmlns:a="http://schemas.openxmlformats.org/drawingml/2006/main">
            <a:pPr>
              <a:defRPr sz="1725" b="0" i="0">
                <a:solidFill>
                  <a:srgbClr val="E6DAD4"/>
                </a:solidFill>
                <a:latin typeface="Arial"/>
                <a:ea typeface="Arial"/>
                <a:cs typeface="Arial"/>
              </a:defRPr>
            </a:pPr>
            <a:r>
              <a:rPr sz="1725" b="0" i="0">
                <a:solidFill>
                  <a:srgbClr val="E6DAD4"/>
                </a:solidFill>
                <a:latin typeface="Arial"/>
                <a:ea typeface="Arial"/>
                <a:cs typeface="Arial"/>
              </a:rPr>
              <a:t>qaytarishni qayd qilasiz.</a:t>
            </a:r>
          </a:p>
        </p:txBody>
      </p:sp>
      <p:sp>
        <p:nvSpPr>
          <p:cNvPr id="7" name="Kontent va sozlamalar">
            <a:extLst xmlns:a="http://schemas.openxmlformats.org/drawingml/2006/main">
              <a:ext uri="{FF2B5EF4-FFF2-40B4-BE49-F238E27FC236}">
                <a16:creationId xmlns:a16="http://schemas.microsoft.com/office/drawing/2014/main" id="{69FD0FEC-9B23-4AD8-B315-BB050946ECAD}"/>
              </a:ext>
            </a:extLst>
          </p:cNvPr>
          <p:cNvSpPr>
            <a:spLocks xmlns:a="http://schemas.openxmlformats.org/drawingml/2006/main" noGrp="1"/>
          </p:cNvSpPr>
          <p:nvPr/>
        </p:nvSpPr>
        <p:spPr>
          <a:xfrm xmlns:a="http://schemas.openxmlformats.org/drawingml/2006/main">
            <a:off x="8286750" y="4000500"/>
            <a:ext cx="335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i="0">
                <a:solidFill>
                  <a:srgbClr val="FFF9F2"/>
                </a:solidFill>
                <a:latin typeface="Arial"/>
                <a:ea typeface="Arial"/>
                <a:cs typeface="Arial"/>
              </a:defRPr>
            </a:defPPr>
          </a:lstStyle>
          <a:p xmlns:a="http://schemas.openxmlformats.org/drawingml/2006/main">
            <a:pPr>
              <a:defRPr sz="2025" b="1" i="0">
                <a:solidFill>
                  <a:srgbClr val="FFF9F2"/>
                </a:solidFill>
                <a:latin typeface="Arial"/>
                <a:ea typeface="Arial"/>
                <a:cs typeface="Arial"/>
              </a:defRPr>
            </a:pPr>
            <a:r>
              <a:rPr sz="2025" b="1" i="0">
                <a:solidFill>
                  <a:srgbClr val="FFF9F2"/>
                </a:solidFill>
                <a:latin typeface="Arial"/>
                <a:ea typeface="Arial"/>
                <a:cs typeface="Arial"/>
              </a:rPr>
              <a:t>Kontent va sozlamalar</a:t>
            </a:r>
          </a:p>
        </p:txBody>
      </p:sp>
      <p:sp>
        <p:nvSpPr>
          <p:cNvPr id="8" name="Banner, kolleksiya, ish vaqti&#10;va yetkazishni sozlaysiz.">
            <a:extLst xmlns:a="http://schemas.openxmlformats.org/drawingml/2006/main">
              <a:ext uri="{FF2B5EF4-FFF2-40B4-BE49-F238E27FC236}">
                <a16:creationId xmlns:a16="http://schemas.microsoft.com/office/drawing/2014/main" id="{48BD1C25-CCE6-4E51-A91D-783AC7AC0D3A}"/>
              </a:ext>
            </a:extLst>
          </p:cNvPr>
          <p:cNvSpPr>
            <a:spLocks xmlns:a="http://schemas.openxmlformats.org/drawingml/2006/main" noGrp="1"/>
          </p:cNvSpPr>
          <p:nvPr/>
        </p:nvSpPr>
        <p:spPr>
          <a:xfrm xmlns:a="http://schemas.openxmlformats.org/drawingml/2006/main">
            <a:off x="8286750" y="4410075"/>
            <a:ext cx="335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i="0">
                <a:solidFill>
                  <a:srgbClr val="E6DAD4"/>
                </a:solidFill>
                <a:latin typeface="Arial"/>
                <a:ea typeface="Arial"/>
                <a:cs typeface="Arial"/>
              </a:defRPr>
            </a:defPPr>
          </a:lstStyle>
          <a:p xmlns:a="http://schemas.openxmlformats.org/drawingml/2006/main">
            <a:pPr>
              <a:defRPr sz="1725" b="0" i="0">
                <a:solidFill>
                  <a:srgbClr val="E6DAD4"/>
                </a:solidFill>
                <a:latin typeface="Arial"/>
                <a:ea typeface="Arial"/>
                <a:cs typeface="Arial"/>
              </a:defRPr>
            </a:pPr>
            <a:r>
              <a:rPr sz="1725" b="0" i="0">
                <a:solidFill>
                  <a:srgbClr val="E6DAD4"/>
                </a:solidFill>
                <a:latin typeface="Arial"/>
                <a:ea typeface="Arial"/>
                <a:cs typeface="Arial"/>
              </a:rPr>
              <a:t>Banner, kolleksiya, ish vaqti</a:t>
            </a:r>
          </a:p>
          <a:p xmlns:a="http://schemas.openxmlformats.org/drawingml/2006/main">
            <a:pPr>
              <a:defRPr sz="1725" b="0" i="0">
                <a:solidFill>
                  <a:srgbClr val="E6DAD4"/>
                </a:solidFill>
                <a:latin typeface="Arial"/>
                <a:ea typeface="Arial"/>
                <a:cs typeface="Arial"/>
              </a:defRPr>
            </a:pPr>
            <a:r>
              <a:rPr sz="1725" b="0" i="0">
                <a:solidFill>
                  <a:srgbClr val="E6DAD4"/>
                </a:solidFill>
                <a:latin typeface="Arial"/>
                <a:ea typeface="Arial"/>
                <a:cs typeface="Arial"/>
              </a:rPr>
              <a:t>va yetkazishni sozlaysiz.</a:t>
            </a:r>
          </a:p>
        </p:txBody>
      </p:sp>
      <p:sp>
        <p:nvSpPr>
          <p:cNvPr id="9" name="Hisobot va xodimlar">
            <a:extLst xmlns:a="http://schemas.openxmlformats.org/drawingml/2006/main">
              <a:ext uri="{FF2B5EF4-FFF2-40B4-BE49-F238E27FC236}">
                <a16:creationId xmlns:a16="http://schemas.microsoft.com/office/drawing/2014/main" id="{E7950572-E9D1-4D3F-ABA1-F96C776934BD}"/>
              </a:ext>
            </a:extLst>
          </p:cNvPr>
          <p:cNvSpPr>
            <a:spLocks xmlns:a="http://schemas.openxmlformats.org/drawingml/2006/main" noGrp="1"/>
          </p:cNvSpPr>
          <p:nvPr/>
        </p:nvSpPr>
        <p:spPr>
          <a:xfrm xmlns:a="http://schemas.openxmlformats.org/drawingml/2006/main">
            <a:off x="8286750" y="5276850"/>
            <a:ext cx="335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i="0">
                <a:solidFill>
                  <a:srgbClr val="FFF9F2"/>
                </a:solidFill>
                <a:latin typeface="Arial"/>
                <a:ea typeface="Arial"/>
                <a:cs typeface="Arial"/>
              </a:defRPr>
            </a:defPPr>
          </a:lstStyle>
          <a:p xmlns:a="http://schemas.openxmlformats.org/drawingml/2006/main">
            <a:pPr>
              <a:defRPr sz="2025" b="1" i="0">
                <a:solidFill>
                  <a:srgbClr val="FFF9F2"/>
                </a:solidFill>
                <a:latin typeface="Arial"/>
                <a:ea typeface="Arial"/>
                <a:cs typeface="Arial"/>
              </a:defRPr>
            </a:pPr>
            <a:r>
              <a:rPr sz="2025" b="1" i="0">
                <a:solidFill>
                  <a:srgbClr val="FFF9F2"/>
                </a:solidFill>
                <a:latin typeface="Arial"/>
                <a:ea typeface="Arial"/>
                <a:cs typeface="Arial"/>
              </a:rPr>
              <a:t>Hisobot va xodimlar</a:t>
            </a:r>
          </a:p>
        </p:txBody>
      </p:sp>
      <p:sp>
        <p:nvSpPr>
          <p:cNvPr id="10" name="Savdo hisobotlari, CSV import&#10;va egasi/sotuvchi huquqlari.">
            <a:extLst xmlns:a="http://schemas.openxmlformats.org/drawingml/2006/main">
              <a:ext uri="{FF2B5EF4-FFF2-40B4-BE49-F238E27FC236}">
                <a16:creationId xmlns:a16="http://schemas.microsoft.com/office/drawing/2014/main" id="{30BB4F2C-7BD6-4D09-8187-15B3C12C531F}"/>
              </a:ext>
            </a:extLst>
          </p:cNvPr>
          <p:cNvSpPr>
            <a:spLocks xmlns:a="http://schemas.openxmlformats.org/drawingml/2006/main" noGrp="1"/>
          </p:cNvSpPr>
          <p:nvPr/>
        </p:nvSpPr>
        <p:spPr>
          <a:xfrm xmlns:a="http://schemas.openxmlformats.org/drawingml/2006/main">
            <a:off x="8286750" y="5686425"/>
            <a:ext cx="335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i="0">
                <a:solidFill>
                  <a:srgbClr val="E6DAD4"/>
                </a:solidFill>
                <a:latin typeface="Arial"/>
                <a:ea typeface="Arial"/>
                <a:cs typeface="Arial"/>
              </a:defRPr>
            </a:defPPr>
          </a:lstStyle>
          <a:p xmlns:a="http://schemas.openxmlformats.org/drawingml/2006/main">
            <a:pPr>
              <a:defRPr sz="1725" b="0" i="0">
                <a:solidFill>
                  <a:srgbClr val="E6DAD4"/>
                </a:solidFill>
                <a:latin typeface="Arial"/>
                <a:ea typeface="Arial"/>
                <a:cs typeface="Arial"/>
              </a:defRPr>
            </a:pPr>
            <a:r>
              <a:rPr sz="1725" b="0" i="0">
                <a:solidFill>
                  <a:srgbClr val="E6DAD4"/>
                </a:solidFill>
                <a:latin typeface="Arial"/>
                <a:ea typeface="Arial"/>
                <a:cs typeface="Arial"/>
              </a:rPr>
              <a:t>Savdo hisobotlari, CSV import</a:t>
            </a:r>
          </a:p>
          <a:p xmlns:a="http://schemas.openxmlformats.org/drawingml/2006/main">
            <a:pPr>
              <a:defRPr sz="1725" b="0" i="0">
                <a:solidFill>
                  <a:srgbClr val="E6DAD4"/>
                </a:solidFill>
                <a:latin typeface="Arial"/>
                <a:ea typeface="Arial"/>
                <a:cs typeface="Arial"/>
              </a:defRPr>
            </a:pPr>
            <a:r>
              <a:rPr sz="1725" b="0" i="0">
                <a:solidFill>
                  <a:srgbClr val="E6DAD4"/>
                </a:solidFill>
                <a:latin typeface="Arial"/>
                <a:ea typeface="Arial"/>
                <a:cs typeface="Arial"/>
              </a:rPr>
              <a:t>va egasi/sotuvchi huquqlari.</a:t>
            </a:r>
          </a:p>
        </p:txBody>
      </p:sp>
      <p:sp>
        <p:nvSpPr>
          <p:cNvPr id="11" name="Mahsulot QR yorliqlari. Login bilan himoyalangan boshqaruv.">
            <a:extLst xmlns:a="http://schemas.openxmlformats.org/drawingml/2006/main">
              <a:ext uri="{FF2B5EF4-FFF2-40B4-BE49-F238E27FC236}">
                <a16:creationId xmlns:a16="http://schemas.microsoft.com/office/drawing/2014/main" id="{9304DEC4-3E24-4E6C-B05F-D28EC86B6758}"/>
              </a:ext>
            </a:extLst>
          </p:cNvPr>
          <p:cNvSpPr>
            <a:spLocks xmlns:a="http://schemas.openxmlformats.org/drawingml/2006/main" noGrp="1"/>
          </p:cNvSpPr>
          <p:nvPr/>
        </p:nvSpPr>
        <p:spPr>
          <a:xfrm xmlns:a="http://schemas.openxmlformats.org/drawingml/2006/main">
            <a:off x="552450" y="6305550"/>
            <a:ext cx="9906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i="0">
                <a:solidFill>
                  <a:srgbClr val="DAB8A1"/>
                </a:solidFill>
                <a:latin typeface="Arial"/>
                <a:ea typeface="Arial"/>
                <a:cs typeface="Arial"/>
              </a:defRPr>
            </a:defPPr>
          </a:lstStyle>
          <a:p xmlns:a="http://schemas.openxmlformats.org/drawingml/2006/main">
            <a:pPr>
              <a:defRPr sz="1350" b="0" i="0">
                <a:solidFill>
                  <a:srgbClr val="DAB8A1"/>
                </a:solidFill>
                <a:latin typeface="Arial"/>
                <a:ea typeface="Arial"/>
                <a:cs typeface="Arial"/>
              </a:defRPr>
            </a:pPr>
            <a:r>
              <a:rPr sz="1350" b="0" i="0">
                <a:solidFill>
                  <a:srgbClr val="DAB8A1"/>
                </a:solidFill>
                <a:latin typeface="Arial"/>
                <a:ea typeface="Arial"/>
                <a:cs typeface="Arial"/>
              </a:rPr>
              <a:t>Mahsulot QR yorliqlari. Login bilan himoyalangan boshqaruv.</a:t>
            </a:r>
          </a:p>
        </p:txBody>
      </p:sp>
      <p:sp>
        <p:nvSpPr>
          <p:cNvPr id="12" name="03 / 06">
            <a:extLst xmlns:a="http://schemas.openxmlformats.org/drawingml/2006/main">
              <a:ext uri="{FF2B5EF4-FFF2-40B4-BE49-F238E27FC236}">
                <a16:creationId xmlns:a16="http://schemas.microsoft.com/office/drawing/2014/main" id="{97FA8691-C95C-4735-9310-A838DA015134}"/>
              </a:ext>
            </a:extLst>
          </p:cNvPr>
          <p:cNvSpPr>
            <a:spLocks xmlns:a="http://schemas.openxmlformats.org/drawingml/2006/main" noGrp="1"/>
          </p:cNvSpPr>
          <p:nvPr/>
        </p:nvSpPr>
        <p:spPr>
          <a:xfrm xmlns:a="http://schemas.openxmlformats.org/drawingml/2006/main">
            <a:off x="10963275" y="6391275"/>
            <a:ext cx="76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i="0">
                <a:solidFill>
                  <a:srgbClr val="DAB8A1"/>
                </a:solidFill>
                <a:latin typeface="Arial"/>
                <a:ea typeface="Arial"/>
                <a:cs typeface="Arial"/>
              </a:defRPr>
            </a:defPPr>
          </a:lstStyle>
          <a:p xmlns:a="http://schemas.openxmlformats.org/drawingml/2006/main">
            <a:pPr algn="r">
              <a:defRPr sz="1275" b="0" i="0">
                <a:solidFill>
                  <a:srgbClr val="DAB8A1"/>
                </a:solidFill>
                <a:latin typeface="Arial"/>
                <a:ea typeface="Arial"/>
                <a:cs typeface="Arial"/>
              </a:defRPr>
            </a:pPr>
            <a:r>
              <a:rPr sz="1275" b="0" i="0">
                <a:solidFill>
                  <a:srgbClr val="DAB8A1"/>
                </a:solidFill>
                <a:latin typeface="Arial"/>
                <a:ea typeface="Arial"/>
                <a:cs typeface="Arial"/>
              </a:rPr>
              <a:t>03 / 06</a:t>
            </a:r>
          </a:p>
        </p:txBody>
      </p:sp>
    </p:spTree>
    <p:extLst>
      <p:ext uri="{BB962C8B-B14F-4D97-AF65-F5344CB8AC3E}">
        <p14:creationId xmlns:p14="http://schemas.microsoft.com/office/powerpoint/2010/main" val="1882861353"/>
      </p:ext>
    </p:extLst>
  </p:cSld>
</p:sld>
</file>

<file path=ppt/slides/slide4.xml><?xml version="1.0" encoding="utf-8"?>
<p:sld xmlns:p="http://schemas.openxmlformats.org/presentationml/2006/main">
  <p:cSld>
    <p:bg>
      <p:bgPr>
        <a:solidFill xmlns:a="http://schemas.openxmlformats.org/drawingml/2006/main">
          <a:srgbClr val="F6F0E7"/>
        </a:solidFill>
      </p:bgPr>
    </p:bg>
    <p:spTree>
      <p:nvGrpSpPr>
        <p:cNvPr id="1" name=""/>
        <p:cNvGrpSpPr/>
        <p:nvPr/>
      </p:nvGrpSpPr>
      <p:grpSpPr>
        <a:xfrm xmlns:a="http://schemas.openxmlformats.org/drawingml/2006/main"/>
      </p:grpSpPr>
      <p:sp>
        <p:nvSpPr>
          <p:cNvPr id="15" name="Suratni katalog va reklamaga tayyorlash">
            <a:extLst xmlns:a="http://schemas.openxmlformats.org/drawingml/2006/main">
              <a:ext uri="{FF2B5EF4-FFF2-40B4-BE49-F238E27FC236}">
                <a16:creationId xmlns:a16="http://schemas.microsoft.com/office/drawing/2014/main" id="{D4D657B8-0437-4FFB-A430-FCF238E62DBE}"/>
              </a:ext>
            </a:extLst>
          </p:cNvPr>
          <p:cNvSpPr>
            <a:spLocks xmlns:a="http://schemas.openxmlformats.org/drawingml/2006/main" noGrp="1"/>
          </p:cNvSpPr>
          <p:nvPr/>
        </p:nvSpPr>
        <p:spPr>
          <a:xfrm xmlns:a="http://schemas.openxmlformats.org/drawingml/2006/main">
            <a:off x="552450" y="447675"/>
            <a:ext cx="11049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0" i="0">
                <a:solidFill>
                  <a:srgbClr val="261A20"/>
                </a:solidFill>
                <a:latin typeface="Georgia"/>
                <a:ea typeface="Georgia"/>
                <a:cs typeface="Georgia"/>
              </a:defRPr>
            </a:defPPr>
          </a:lstStyle>
          <a:p xmlns:a="http://schemas.openxmlformats.org/drawingml/2006/main">
            <a:pPr>
              <a:defRPr sz="3225" b="0" i="0">
                <a:solidFill>
                  <a:srgbClr val="261A20"/>
                </a:solidFill>
                <a:latin typeface="Georgia"/>
                <a:ea typeface="Georgia"/>
                <a:cs typeface="Georgia"/>
              </a:defRPr>
            </a:pPr>
            <a:r>
              <a:rPr sz="3225" b="0" i="0">
                <a:solidFill>
                  <a:srgbClr val="261A20"/>
                </a:solidFill>
                <a:latin typeface="Georgia"/>
                <a:ea typeface="Georgia"/>
                <a:cs typeface="Georgia"/>
              </a:rPr>
              <a:t>Suratni katalog va reklamaga tayyorlash</a:t>
            </a:r>
          </a:p>
        </p:txBody>
      </p:sp>
      <p:sp>
        <p:nvSpPr>
          <p:cNvPr id="2" name="Asl surat">
            <a:extLst xmlns:a="http://schemas.openxmlformats.org/drawingml/2006/main">
              <a:ext uri="{FF2B5EF4-FFF2-40B4-BE49-F238E27FC236}">
                <a16:creationId xmlns:a16="http://schemas.microsoft.com/office/drawing/2014/main" id="{1D8238D1-1DBC-49B0-B99C-3D37B43D348E}"/>
              </a:ext>
            </a:extLst>
          </p:cNvPr>
          <p:cNvSpPr>
            <a:spLocks xmlns:a="http://schemas.openxmlformats.org/drawingml/2006/main" noGrp="1"/>
          </p:cNvSpPr>
          <p:nvPr/>
        </p:nvSpPr>
        <p:spPr>
          <a:xfrm xmlns:a="http://schemas.openxmlformats.org/drawingml/2006/main">
            <a:off x="561975" y="1390650"/>
            <a:ext cx="247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i="0">
                <a:solidFill>
                  <a:srgbClr val="655A5C"/>
                </a:solidFill>
                <a:latin typeface="Arial"/>
                <a:ea typeface="Arial"/>
                <a:cs typeface="Arial"/>
              </a:defRPr>
            </a:defPPr>
          </a:lstStyle>
          <a:p xmlns:a="http://schemas.openxmlformats.org/drawingml/2006/main">
            <a:pPr>
              <a:defRPr sz="1800" b="0" i="0">
                <a:solidFill>
                  <a:srgbClr val="655A5C"/>
                </a:solidFill>
                <a:latin typeface="Arial"/>
                <a:ea typeface="Arial"/>
                <a:cs typeface="Arial"/>
              </a:defRPr>
            </a:pPr>
            <a:r>
              <a:rPr sz="1800" b="0" i="0">
                <a:solidFill>
                  <a:srgbClr val="655A5C"/>
                </a:solidFill>
                <a:latin typeface="Arial"/>
                <a:ea typeface="Arial"/>
                <a:cs typeface="Arial"/>
              </a:rPr>
              <a:t>Asl surat</a:t>
            </a:r>
          </a:p>
        </p:txBody>
      </p:sp>
      <p:sp>
        <p:nvSpPr>
          <p:cNvPr id="3" name="Studiyadagi tayyor natija">
            <a:extLst xmlns:a="http://schemas.openxmlformats.org/drawingml/2006/main">
              <a:ext uri="{FF2B5EF4-FFF2-40B4-BE49-F238E27FC236}">
                <a16:creationId xmlns:a16="http://schemas.microsoft.com/office/drawing/2014/main" id="{0F6D6A90-CBE4-41DC-9DE3-BF41A071DF0B}"/>
              </a:ext>
            </a:extLst>
          </p:cNvPr>
          <p:cNvSpPr>
            <a:spLocks xmlns:a="http://schemas.openxmlformats.org/drawingml/2006/main" noGrp="1"/>
          </p:cNvSpPr>
          <p:nvPr/>
        </p:nvSpPr>
        <p:spPr>
          <a:xfrm xmlns:a="http://schemas.openxmlformats.org/drawingml/2006/main">
            <a:off x="3371850" y="1390650"/>
            <a:ext cx="4095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i="0">
                <a:solidFill>
                  <a:srgbClr val="622C46"/>
                </a:solidFill>
                <a:latin typeface="Arial"/>
                <a:ea typeface="Arial"/>
                <a:cs typeface="Arial"/>
              </a:defRPr>
            </a:defPPr>
          </a:lstStyle>
          <a:p xmlns:a="http://schemas.openxmlformats.org/drawingml/2006/main">
            <a:pPr>
              <a:defRPr sz="1800" b="0" i="0">
                <a:solidFill>
                  <a:srgbClr val="622C46"/>
                </a:solidFill>
                <a:latin typeface="Arial"/>
                <a:ea typeface="Arial"/>
                <a:cs typeface="Arial"/>
              </a:defRPr>
            </a:pPr>
            <a:r>
              <a:rPr sz="1800" b="0" i="0">
                <a:solidFill>
                  <a:srgbClr val="622C46"/>
                </a:solidFill>
                <a:latin typeface="Arial"/>
                <a:ea typeface="Arial"/>
                <a:cs typeface="Arial"/>
              </a:rPr>
              <a:t>Studiyadagi tayyor natija</a:t>
            </a:r>
          </a:p>
        </p:txBody>
      </p:sp>
      <p:pic>
        <p:nvPicPr>
          <p:cNvPr id="4" name="">
            <a:extLst xmlns:a="http://schemas.openxmlformats.org/drawingml/2006/main">
              <a:ext uri="{FF2B5EF4-FFF2-40B4-BE49-F238E27FC236}">
                <a16:creationId xmlns:a16="http://schemas.microsoft.com/office/drawing/2014/main" id="{FA5388AD-2E26-4AEB-BB40-01F7547248E5}"/>
              </a:ext>
            </a:extLst>
          </p:cNvPr>
          <p:cNvPicPr>
            <a:picLocks xmlns:a="http://schemas.openxmlformats.org/drawingml/2006/main" noChangeAspect="1"/>
          </p:cNvPicPr>
          <p:nvPr/>
        </p:nvPicPr>
        <p:blipFill>
          <a:blip xmlns:r="http://schemas.openxmlformats.org/officeDocument/2006/relationships" xmlns:a="http://schemas.openxmlformats.org/drawingml/2006/main" r:embed="Reb5d6fe556094b7e"/>
          <a:stretch xmlns:a="http://schemas.openxmlformats.org/drawingml/2006/main"/>
        </p:blipFill>
        <p:spPr>
          <a:xfrm xmlns:a="http://schemas.openxmlformats.org/drawingml/2006/main">
            <a:off x="542925" y="1976438"/>
            <a:ext cx="2600325" cy="3467100"/>
          </a:xfrm>
          <a:prstGeom xmlns:a="http://schemas.openxmlformats.org/drawingml/2006/main" prst="rect">
            <a:avLst/>
          </a:prstGeom>
        </p:spPr>
      </p:pic>
      <p:pic>
        <p:nvPicPr>
          <p:cNvPr id="5" name="">
            <a:extLst xmlns:a="http://schemas.openxmlformats.org/drawingml/2006/main">
              <a:ext uri="{FF2B5EF4-FFF2-40B4-BE49-F238E27FC236}">
                <a16:creationId xmlns:a16="http://schemas.microsoft.com/office/drawing/2014/main" id="{286E82A6-0089-4766-93F5-2F23C019D99E}"/>
              </a:ext>
            </a:extLst>
          </p:cNvPr>
          <p:cNvPicPr>
            <a:picLocks xmlns:a="http://schemas.openxmlformats.org/drawingml/2006/main" noChangeAspect="1"/>
          </p:cNvPicPr>
          <p:nvPr/>
        </p:nvPicPr>
        <p:blipFill>
          <a:blip xmlns:r="http://schemas.openxmlformats.org/officeDocument/2006/relationships" xmlns:a="http://schemas.openxmlformats.org/drawingml/2006/main" r:embed="Ra86f9e299ff14c9b"/>
          <a:stretch xmlns:a="http://schemas.openxmlformats.org/drawingml/2006/main"/>
        </p:blipFill>
        <p:spPr>
          <a:xfrm xmlns:a="http://schemas.openxmlformats.org/drawingml/2006/main">
            <a:off x="3381375" y="1847850"/>
            <a:ext cx="3200400" cy="4000500"/>
          </a:xfrm>
          <a:prstGeom xmlns:a="http://schemas.openxmlformats.org/drawingml/2006/main" prst="rect">
            <a:avLst/>
          </a:prstGeom>
        </p:spPr>
      </p:pic>
      <p:sp>
        <p:nvSpPr>
          <p:cNvPr id="6" name="Fon va joylashuv">
            <a:extLst xmlns:a="http://schemas.openxmlformats.org/drawingml/2006/main">
              <a:ext uri="{FF2B5EF4-FFF2-40B4-BE49-F238E27FC236}">
                <a16:creationId xmlns:a16="http://schemas.microsoft.com/office/drawing/2014/main" id="{7FA7550F-F76A-4DA4-9249-5729B0893531}"/>
              </a:ext>
            </a:extLst>
          </p:cNvPr>
          <p:cNvSpPr>
            <a:spLocks xmlns:a="http://schemas.openxmlformats.org/drawingml/2006/main" noGrp="1"/>
          </p:cNvSpPr>
          <p:nvPr/>
        </p:nvSpPr>
        <p:spPr>
          <a:xfrm xmlns:a="http://schemas.openxmlformats.org/drawingml/2006/main">
            <a:off x="7543800" y="1771650"/>
            <a:ext cx="4095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i="0">
                <a:solidFill>
                  <a:srgbClr val="261A20"/>
                </a:solidFill>
                <a:latin typeface="Arial"/>
                <a:ea typeface="Arial"/>
                <a:cs typeface="Arial"/>
              </a:defRPr>
            </a:defPPr>
          </a:lstStyle>
          <a:p xmlns:a="http://schemas.openxmlformats.org/drawingml/2006/main">
            <a:pPr>
              <a:defRPr sz="2025" b="1" i="0">
                <a:solidFill>
                  <a:srgbClr val="261A20"/>
                </a:solidFill>
                <a:latin typeface="Arial"/>
                <a:ea typeface="Arial"/>
                <a:cs typeface="Arial"/>
              </a:defRPr>
            </a:pPr>
            <a:r>
              <a:rPr sz="2025" b="1" i="0">
                <a:solidFill>
                  <a:srgbClr val="261A20"/>
                </a:solidFill>
                <a:latin typeface="Arial"/>
                <a:ea typeface="Arial"/>
                <a:cs typeface="Arial"/>
              </a:rPr>
              <a:t>Fon va joylashuv</a:t>
            </a:r>
          </a:p>
        </p:txBody>
      </p:sp>
      <p:sp>
        <p:nvSpPr>
          <p:cNvPr id="7" name="Fonni ajratasiz, chetlarini&#10;tuzatasiz, tayyor fon tanlaysiz.">
            <a:extLst xmlns:a="http://schemas.openxmlformats.org/drawingml/2006/main">
              <a:ext uri="{FF2B5EF4-FFF2-40B4-BE49-F238E27FC236}">
                <a16:creationId xmlns:a16="http://schemas.microsoft.com/office/drawing/2014/main" id="{E2F658AC-12D8-49E0-983D-37C1363E288E}"/>
              </a:ext>
            </a:extLst>
          </p:cNvPr>
          <p:cNvSpPr>
            <a:spLocks xmlns:a="http://schemas.openxmlformats.org/drawingml/2006/main" noGrp="1"/>
          </p:cNvSpPr>
          <p:nvPr/>
        </p:nvSpPr>
        <p:spPr>
          <a:xfrm xmlns:a="http://schemas.openxmlformats.org/drawingml/2006/main">
            <a:off x="7543800" y="2181225"/>
            <a:ext cx="4095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i="0">
                <a:solidFill>
                  <a:srgbClr val="655A5C"/>
                </a:solidFill>
                <a:latin typeface="Arial"/>
                <a:ea typeface="Arial"/>
                <a:cs typeface="Arial"/>
              </a:defRPr>
            </a:defPPr>
          </a:lstStyle>
          <a:p xmlns:a="http://schemas.openxmlformats.org/drawingml/2006/main">
            <a:pPr>
              <a:defRPr sz="1725" b="0" i="0">
                <a:solidFill>
                  <a:srgbClr val="655A5C"/>
                </a:solidFill>
                <a:latin typeface="Arial"/>
                <a:ea typeface="Arial"/>
                <a:cs typeface="Arial"/>
              </a:defRPr>
            </a:pPr>
            <a:r>
              <a:rPr sz="1725" b="0" i="0">
                <a:solidFill>
                  <a:srgbClr val="655A5C"/>
                </a:solidFill>
                <a:latin typeface="Arial"/>
                <a:ea typeface="Arial"/>
                <a:cs typeface="Arial"/>
              </a:rPr>
              <a:t>Fonni ajratasiz, chetlarini</a:t>
            </a:r>
          </a:p>
          <a:p xmlns:a="http://schemas.openxmlformats.org/drawingml/2006/main">
            <a:pPr>
              <a:defRPr sz="1725" b="0" i="0">
                <a:solidFill>
                  <a:srgbClr val="655A5C"/>
                </a:solidFill>
                <a:latin typeface="Arial"/>
                <a:ea typeface="Arial"/>
                <a:cs typeface="Arial"/>
              </a:defRPr>
            </a:pPr>
            <a:r>
              <a:rPr sz="1725" b="0" i="0">
                <a:solidFill>
                  <a:srgbClr val="655A5C"/>
                </a:solidFill>
                <a:latin typeface="Arial"/>
                <a:ea typeface="Arial"/>
                <a:cs typeface="Arial"/>
              </a:rPr>
              <a:t>tuzatasiz, tayyor fon tanlaysiz.</a:t>
            </a:r>
          </a:p>
        </p:txBody>
      </p:sp>
      <p:sp>
        <p:nvSpPr>
          <p:cNvPr id="8" name="Katalog, reklama va Story">
            <a:extLst xmlns:a="http://schemas.openxmlformats.org/drawingml/2006/main">
              <a:ext uri="{FF2B5EF4-FFF2-40B4-BE49-F238E27FC236}">
                <a16:creationId xmlns:a16="http://schemas.microsoft.com/office/drawing/2014/main" id="{F5F3833E-3E70-4530-AE1E-8B1CA9D6906D}"/>
              </a:ext>
            </a:extLst>
          </p:cNvPr>
          <p:cNvSpPr>
            <a:spLocks xmlns:a="http://schemas.openxmlformats.org/drawingml/2006/main" noGrp="1"/>
          </p:cNvSpPr>
          <p:nvPr/>
        </p:nvSpPr>
        <p:spPr>
          <a:xfrm xmlns:a="http://schemas.openxmlformats.org/drawingml/2006/main">
            <a:off x="7543800" y="3076575"/>
            <a:ext cx="4095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i="0">
                <a:solidFill>
                  <a:srgbClr val="261A20"/>
                </a:solidFill>
                <a:latin typeface="Arial"/>
                <a:ea typeface="Arial"/>
                <a:cs typeface="Arial"/>
              </a:defRPr>
            </a:defPPr>
          </a:lstStyle>
          <a:p xmlns:a="http://schemas.openxmlformats.org/drawingml/2006/main">
            <a:pPr>
              <a:defRPr sz="2025" b="1" i="0">
                <a:solidFill>
                  <a:srgbClr val="261A20"/>
                </a:solidFill>
                <a:latin typeface="Arial"/>
                <a:ea typeface="Arial"/>
                <a:cs typeface="Arial"/>
              </a:defRPr>
            </a:pPr>
            <a:r>
              <a:rPr sz="2025" b="1" i="0">
                <a:solidFill>
                  <a:srgbClr val="261A20"/>
                </a:solidFill>
                <a:latin typeface="Arial"/>
                <a:ea typeface="Arial"/>
                <a:cs typeface="Arial"/>
              </a:rPr>
              <a:t>Katalog, reklama va Story</a:t>
            </a:r>
          </a:p>
        </p:txBody>
      </p:sp>
      <p:sp>
        <p:nvSpPr>
          <p:cNvPr id="9" name="Har format uchun tayyor nusxa.&#10;Asl surat alohida saqlanadi.">
            <a:extLst xmlns:a="http://schemas.openxmlformats.org/drawingml/2006/main">
              <a:ext uri="{FF2B5EF4-FFF2-40B4-BE49-F238E27FC236}">
                <a16:creationId xmlns:a16="http://schemas.microsoft.com/office/drawing/2014/main" id="{750CA077-4E38-40F7-9088-B8AF9044CE46}"/>
              </a:ext>
            </a:extLst>
          </p:cNvPr>
          <p:cNvSpPr>
            <a:spLocks xmlns:a="http://schemas.openxmlformats.org/drawingml/2006/main" noGrp="1"/>
          </p:cNvSpPr>
          <p:nvPr/>
        </p:nvSpPr>
        <p:spPr>
          <a:xfrm xmlns:a="http://schemas.openxmlformats.org/drawingml/2006/main">
            <a:off x="7543800" y="3486150"/>
            <a:ext cx="4095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i="0">
                <a:solidFill>
                  <a:srgbClr val="655A5C"/>
                </a:solidFill>
                <a:latin typeface="Arial"/>
                <a:ea typeface="Arial"/>
                <a:cs typeface="Arial"/>
              </a:defRPr>
            </a:defPPr>
          </a:lstStyle>
          <a:p xmlns:a="http://schemas.openxmlformats.org/drawingml/2006/main">
            <a:pPr>
              <a:defRPr sz="1725" b="0" i="0">
                <a:solidFill>
                  <a:srgbClr val="655A5C"/>
                </a:solidFill>
                <a:latin typeface="Arial"/>
                <a:ea typeface="Arial"/>
                <a:cs typeface="Arial"/>
              </a:defRPr>
            </a:pPr>
            <a:r>
              <a:rPr sz="1725" b="0" i="0">
                <a:solidFill>
                  <a:srgbClr val="655A5C"/>
                </a:solidFill>
                <a:latin typeface="Arial"/>
                <a:ea typeface="Arial"/>
                <a:cs typeface="Arial"/>
              </a:rPr>
              <a:t>Har format uchun tayyor nusxa.</a:t>
            </a:r>
          </a:p>
          <a:p xmlns:a="http://schemas.openxmlformats.org/drawingml/2006/main">
            <a:pPr>
              <a:defRPr sz="1725" b="0" i="0">
                <a:solidFill>
                  <a:srgbClr val="655A5C"/>
                </a:solidFill>
                <a:latin typeface="Arial"/>
                <a:ea typeface="Arial"/>
                <a:cs typeface="Arial"/>
              </a:defRPr>
            </a:pPr>
            <a:r>
              <a:rPr sz="1725" b="0" i="0">
                <a:solidFill>
                  <a:srgbClr val="655A5C"/>
                </a:solidFill>
                <a:latin typeface="Arial"/>
                <a:ea typeface="Arial"/>
                <a:cs typeface="Arial"/>
              </a:rPr>
              <a:t>Asl surat alohida saqlanadi.</a:t>
            </a:r>
          </a:p>
        </p:txBody>
      </p:sp>
      <p:sp>
        <p:nvSpPr>
          <p:cNvPr id="10" name="Nashrni o‘zingiz tasdiqlaysiz">
            <a:extLst xmlns:a="http://schemas.openxmlformats.org/drawingml/2006/main">
              <a:ext uri="{FF2B5EF4-FFF2-40B4-BE49-F238E27FC236}">
                <a16:creationId xmlns:a16="http://schemas.microsoft.com/office/drawing/2014/main" id="{71A5F94F-9C22-4386-8B2D-2FFC6B8762DE}"/>
              </a:ext>
            </a:extLst>
          </p:cNvPr>
          <p:cNvSpPr>
            <a:spLocks xmlns:a="http://schemas.openxmlformats.org/drawingml/2006/main" noGrp="1"/>
          </p:cNvSpPr>
          <p:nvPr/>
        </p:nvSpPr>
        <p:spPr>
          <a:xfrm xmlns:a="http://schemas.openxmlformats.org/drawingml/2006/main">
            <a:off x="7543800" y="4381500"/>
            <a:ext cx="4095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i="0">
                <a:solidFill>
                  <a:srgbClr val="261A20"/>
                </a:solidFill>
                <a:latin typeface="Arial"/>
                <a:ea typeface="Arial"/>
                <a:cs typeface="Arial"/>
              </a:defRPr>
            </a:defPPr>
          </a:lstStyle>
          <a:p xmlns:a="http://schemas.openxmlformats.org/drawingml/2006/main">
            <a:pPr>
              <a:defRPr sz="2025" b="1" i="0">
                <a:solidFill>
                  <a:srgbClr val="261A20"/>
                </a:solidFill>
                <a:latin typeface="Arial"/>
                <a:ea typeface="Arial"/>
                <a:cs typeface="Arial"/>
              </a:defRPr>
            </a:pPr>
            <a:r>
              <a:rPr sz="2025" b="1" i="0">
                <a:solidFill>
                  <a:srgbClr val="261A20"/>
                </a:solidFill>
                <a:latin typeface="Arial"/>
                <a:ea typeface="Arial"/>
                <a:cs typeface="Arial"/>
              </a:rPr>
              <a:t>Nashrni o‘zingiz tasdiqlaysiz</a:t>
            </a:r>
          </a:p>
        </p:txBody>
      </p:sp>
      <p:sp>
        <p:nvSpPr>
          <p:cNvPr id="11" name="Natijani ko‘rib tekshirasiz,&#10;keyin mahsulotga qo‘shasiz.">
            <a:extLst xmlns:a="http://schemas.openxmlformats.org/drawingml/2006/main">
              <a:ext uri="{FF2B5EF4-FFF2-40B4-BE49-F238E27FC236}">
                <a16:creationId xmlns:a16="http://schemas.microsoft.com/office/drawing/2014/main" id="{79BCB07A-426C-4410-ACD8-1BB9CE5B52BB}"/>
              </a:ext>
            </a:extLst>
          </p:cNvPr>
          <p:cNvSpPr>
            <a:spLocks xmlns:a="http://schemas.openxmlformats.org/drawingml/2006/main" noGrp="1"/>
          </p:cNvSpPr>
          <p:nvPr/>
        </p:nvSpPr>
        <p:spPr>
          <a:xfrm xmlns:a="http://schemas.openxmlformats.org/drawingml/2006/main">
            <a:off x="7543800" y="4791075"/>
            <a:ext cx="4095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i="0">
                <a:solidFill>
                  <a:srgbClr val="655A5C"/>
                </a:solidFill>
                <a:latin typeface="Arial"/>
                <a:ea typeface="Arial"/>
                <a:cs typeface="Arial"/>
              </a:defRPr>
            </a:defPPr>
          </a:lstStyle>
          <a:p xmlns:a="http://schemas.openxmlformats.org/drawingml/2006/main">
            <a:pPr>
              <a:defRPr sz="1725" b="0" i="0">
                <a:solidFill>
                  <a:srgbClr val="655A5C"/>
                </a:solidFill>
                <a:latin typeface="Arial"/>
                <a:ea typeface="Arial"/>
                <a:cs typeface="Arial"/>
              </a:defRPr>
            </a:pPr>
            <a:r>
              <a:rPr sz="1725" b="0" i="0">
                <a:solidFill>
                  <a:srgbClr val="655A5C"/>
                </a:solidFill>
                <a:latin typeface="Arial"/>
                <a:ea typeface="Arial"/>
                <a:cs typeface="Arial"/>
              </a:rPr>
              <a:t>Natijani ko‘rib tekshirasiz,</a:t>
            </a:r>
          </a:p>
          <a:p xmlns:a="http://schemas.openxmlformats.org/drawingml/2006/main">
            <a:pPr>
              <a:defRPr sz="1725" b="0" i="0">
                <a:solidFill>
                  <a:srgbClr val="655A5C"/>
                </a:solidFill>
                <a:latin typeface="Arial"/>
                <a:ea typeface="Arial"/>
                <a:cs typeface="Arial"/>
              </a:defRPr>
            </a:pPr>
            <a:r>
              <a:rPr sz="1725" b="0" i="0">
                <a:solidFill>
                  <a:srgbClr val="655A5C"/>
                </a:solidFill>
                <a:latin typeface="Arial"/>
                <a:ea typeface="Arial"/>
                <a:cs typeface="Arial"/>
              </a:rPr>
              <a:t>keyin mahsulotga qo‘shasiz.</a:t>
            </a:r>
          </a:p>
        </p:txBody>
      </p:sp>
      <p:sp>
        <p:nvSpPr>
          <p:cNvPr id="12" name="AI obunasi va har rasm uchun to‘lov yo‘q.">
            <a:extLst xmlns:a="http://schemas.openxmlformats.org/drawingml/2006/main">
              <a:ext uri="{FF2B5EF4-FFF2-40B4-BE49-F238E27FC236}">
                <a16:creationId xmlns:a16="http://schemas.microsoft.com/office/drawing/2014/main" id="{E8E915AC-B7DF-4642-BA58-29E79C9671F6}"/>
              </a:ext>
            </a:extLst>
          </p:cNvPr>
          <p:cNvSpPr>
            <a:spLocks xmlns:a="http://schemas.openxmlformats.org/drawingml/2006/main" noGrp="1"/>
          </p:cNvSpPr>
          <p:nvPr/>
        </p:nvSpPr>
        <p:spPr>
          <a:xfrm xmlns:a="http://schemas.openxmlformats.org/drawingml/2006/main">
            <a:off x="561975" y="6000750"/>
            <a:ext cx="10001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i="0">
                <a:solidFill>
                  <a:srgbClr val="622C46"/>
                </a:solidFill>
                <a:latin typeface="Arial"/>
                <a:ea typeface="Arial"/>
                <a:cs typeface="Arial"/>
              </a:defRPr>
            </a:defPPr>
          </a:lstStyle>
          <a:p xmlns:a="http://schemas.openxmlformats.org/drawingml/2006/main">
            <a:pPr>
              <a:defRPr sz="1950" b="1" i="0">
                <a:solidFill>
                  <a:srgbClr val="622C46"/>
                </a:solidFill>
                <a:latin typeface="Arial"/>
                <a:ea typeface="Arial"/>
                <a:cs typeface="Arial"/>
              </a:defRPr>
            </a:pPr>
            <a:r>
              <a:rPr sz="1950" b="1" i="0">
                <a:solidFill>
                  <a:srgbClr val="622C46"/>
                </a:solidFill>
                <a:latin typeface="Arial"/>
                <a:ea typeface="Arial"/>
                <a:cs typeface="Arial"/>
              </a:rPr>
              <a:t>AI obunasi va har rasm uchun to‘lov yo‘q.</a:t>
            </a:r>
          </a:p>
        </p:txBody>
      </p:sp>
      <p:sp>
        <p:nvSpPr>
          <p:cNvPr id="13" name="Murakkab fonda konturlarni qo‘lda tuzatish kerak bo‘lishi mumkin.">
            <a:extLst xmlns:a="http://schemas.openxmlformats.org/drawingml/2006/main">
              <a:ext uri="{FF2B5EF4-FFF2-40B4-BE49-F238E27FC236}">
                <a16:creationId xmlns:a16="http://schemas.microsoft.com/office/drawing/2014/main" id="{7BC23FD7-CECF-4B4B-8E06-C9C0648E5627}"/>
              </a:ext>
            </a:extLst>
          </p:cNvPr>
          <p:cNvSpPr>
            <a:spLocks xmlns:a="http://schemas.openxmlformats.org/drawingml/2006/main" noGrp="1"/>
          </p:cNvSpPr>
          <p:nvPr/>
        </p:nvSpPr>
        <p:spPr>
          <a:xfrm xmlns:a="http://schemas.openxmlformats.org/drawingml/2006/main">
            <a:off x="561975" y="6419850"/>
            <a:ext cx="9620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i="0">
                <a:solidFill>
                  <a:srgbClr val="655A5C"/>
                </a:solidFill>
                <a:latin typeface="Arial"/>
                <a:ea typeface="Arial"/>
                <a:cs typeface="Arial"/>
              </a:defRPr>
            </a:defPPr>
          </a:lstStyle>
          <a:p xmlns:a="http://schemas.openxmlformats.org/drawingml/2006/main">
            <a:pPr>
              <a:defRPr sz="1350" b="0" i="0">
                <a:solidFill>
                  <a:srgbClr val="655A5C"/>
                </a:solidFill>
                <a:latin typeface="Arial"/>
                <a:ea typeface="Arial"/>
                <a:cs typeface="Arial"/>
              </a:defRPr>
            </a:pPr>
            <a:r>
              <a:rPr sz="1350" b="0" i="0">
                <a:solidFill>
                  <a:srgbClr val="655A5C"/>
                </a:solidFill>
                <a:latin typeface="Arial"/>
                <a:ea typeface="Arial"/>
                <a:cs typeface="Arial"/>
              </a:rPr>
              <a:t>Murakkab fonda konturlarni qo‘lda tuzatish kerak bo‘lishi mumkin.</a:t>
            </a:r>
          </a:p>
        </p:txBody>
      </p:sp>
      <p:sp>
        <p:nvSpPr>
          <p:cNvPr id="14" name="04 / 06">
            <a:extLst xmlns:a="http://schemas.openxmlformats.org/drawingml/2006/main">
              <a:ext uri="{FF2B5EF4-FFF2-40B4-BE49-F238E27FC236}">
                <a16:creationId xmlns:a16="http://schemas.microsoft.com/office/drawing/2014/main" id="{8DFE7365-C629-4828-BB01-9BB2D2890E3B}"/>
              </a:ext>
            </a:extLst>
          </p:cNvPr>
          <p:cNvSpPr>
            <a:spLocks xmlns:a="http://schemas.openxmlformats.org/drawingml/2006/main" noGrp="1"/>
          </p:cNvSpPr>
          <p:nvPr/>
        </p:nvSpPr>
        <p:spPr>
          <a:xfrm xmlns:a="http://schemas.openxmlformats.org/drawingml/2006/main">
            <a:off x="10963275" y="6391275"/>
            <a:ext cx="76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i="0">
                <a:solidFill>
                  <a:srgbClr val="655A5C"/>
                </a:solidFill>
                <a:latin typeface="Arial"/>
                <a:ea typeface="Arial"/>
                <a:cs typeface="Arial"/>
              </a:defRPr>
            </a:defPPr>
          </a:lstStyle>
          <a:p xmlns:a="http://schemas.openxmlformats.org/drawingml/2006/main">
            <a:pPr algn="r">
              <a:defRPr sz="1275" b="0" i="0">
                <a:solidFill>
                  <a:srgbClr val="655A5C"/>
                </a:solidFill>
                <a:latin typeface="Arial"/>
                <a:ea typeface="Arial"/>
                <a:cs typeface="Arial"/>
              </a:defRPr>
            </a:pPr>
            <a:r>
              <a:rPr sz="1275" b="0" i="0">
                <a:solidFill>
                  <a:srgbClr val="655A5C"/>
                </a:solidFill>
                <a:latin typeface="Arial"/>
                <a:ea typeface="Arial"/>
                <a:cs typeface="Arial"/>
              </a:rPr>
              <a:t>04 / 06</a:t>
            </a:r>
          </a:p>
        </p:txBody>
      </p:sp>
    </p:spTree>
    <p:extLst>
      <p:ext uri="{BB962C8B-B14F-4D97-AF65-F5344CB8AC3E}">
        <p14:creationId xmlns:p14="http://schemas.microsoft.com/office/powerpoint/2010/main" val="12759147"/>
      </p:ext>
    </p:extLst>
  </p:cSld>
</p:sld>
</file>

<file path=ppt/slides/slide5.xml><?xml version="1.0" encoding="utf-8"?>
<p:sld xmlns:p="http://schemas.openxmlformats.org/presentationml/2006/main">
  <p:cSld>
    <p:bg>
      <p:bgPr>
        <a:solidFill xmlns:a="http://schemas.openxmlformats.org/drawingml/2006/main">
          <a:srgbClr val="F6F0E7"/>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34A44B9F-2848-4B7F-A8AA-9CB2B57045CA}"/>
              </a:ext>
            </a:extLst>
          </p:cNvPr>
          <p:cNvPicPr>
            <a:picLocks xmlns:a="http://schemas.openxmlformats.org/drawingml/2006/main" noChangeAspect="1"/>
          </p:cNvPicPr>
          <p:nvPr/>
        </p:nvPicPr>
        <p:blipFill>
          <a:blip xmlns:r="http://schemas.openxmlformats.org/officeDocument/2006/relationships" xmlns:a="http://schemas.openxmlformats.org/drawingml/2006/main" r:embed="R8f4e083ff7ad4fdf"/>
          <a:srcRect xmlns:a="http://schemas.openxmlformats.org/drawingml/2006/main" l="5576" t="0" r="5576" b="0"/>
          <a:stretch xmlns:a="http://schemas.openxmlformats.org/drawingml/2006/main">
            <a:fillRect l="0" t="0" r="0" b="0"/>
          </a:stretch>
        </p:blipFill>
        <p:spPr>
          <a:xfrm xmlns:a="http://schemas.openxmlformats.org/drawingml/2006/main">
            <a:off x="0" y="0"/>
            <a:ext cx="4067175" cy="6858000"/>
          </a:xfrm>
          <a:prstGeom xmlns:a="http://schemas.openxmlformats.org/drawingml/2006/main" prst="rect">
            <a:avLst/>
          </a:prstGeom>
        </p:spPr>
      </p:pic>
      <p:sp>
        <p:nvSpPr>
          <p:cNvPr id="2" name="Murojaatlar&#10;Telegramga keladi">
            <a:extLst xmlns:a="http://schemas.openxmlformats.org/drawingml/2006/main">
              <a:ext uri="{FF2B5EF4-FFF2-40B4-BE49-F238E27FC236}">
                <a16:creationId xmlns:a16="http://schemas.microsoft.com/office/drawing/2014/main" id="{B506A238-3B04-4B2D-ABF9-A37B6CDC20D5}"/>
              </a:ext>
            </a:extLst>
          </p:cNvPr>
          <p:cNvSpPr>
            <a:spLocks xmlns:a="http://schemas.openxmlformats.org/drawingml/2006/main" noGrp="1"/>
          </p:cNvSpPr>
          <p:nvPr/>
        </p:nvSpPr>
        <p:spPr>
          <a:xfrm xmlns:a="http://schemas.openxmlformats.org/drawingml/2006/main">
            <a:off x="4686300" y="723900"/>
            <a:ext cx="6962775" cy="1228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0" i="0">
                <a:solidFill>
                  <a:srgbClr val="261A20"/>
                </a:solidFill>
                <a:latin typeface="Georgia"/>
                <a:ea typeface="Georgia"/>
                <a:cs typeface="Georgia"/>
              </a:defRPr>
            </a:defPPr>
          </a:lstStyle>
          <a:p xmlns:a="http://schemas.openxmlformats.org/drawingml/2006/main">
            <a:pPr>
              <a:defRPr sz="3600" b="0" i="0">
                <a:solidFill>
                  <a:srgbClr val="261A20"/>
                </a:solidFill>
                <a:latin typeface="Georgia"/>
                <a:ea typeface="Georgia"/>
                <a:cs typeface="Georgia"/>
              </a:defRPr>
            </a:pPr>
            <a:r>
              <a:rPr sz="3600" b="0" i="0">
                <a:solidFill>
                  <a:srgbClr val="261A20"/>
                </a:solidFill>
                <a:latin typeface="Georgia"/>
                <a:ea typeface="Georgia"/>
                <a:cs typeface="Georgia"/>
              </a:rPr>
              <a:t>Murojaatlar</a:t>
            </a:r>
          </a:p>
          <a:p xmlns:a="http://schemas.openxmlformats.org/drawingml/2006/main">
            <a:pPr>
              <a:defRPr sz="3600" b="0" i="0">
                <a:solidFill>
                  <a:srgbClr val="261A20"/>
                </a:solidFill>
                <a:latin typeface="Georgia"/>
                <a:ea typeface="Georgia"/>
                <a:cs typeface="Georgia"/>
              </a:defRPr>
            </a:pPr>
            <a:r>
              <a:rPr sz="3600" b="0" i="0">
                <a:solidFill>
                  <a:srgbClr val="261A20"/>
                </a:solidFill>
                <a:latin typeface="Georgia"/>
                <a:ea typeface="Georgia"/>
                <a:cs typeface="Georgia"/>
              </a:rPr>
              <a:t>Telegramga keladi</a:t>
            </a:r>
          </a:p>
        </p:txBody>
      </p:sp>
      <p:sp>
        <p:nvSpPr>
          <p:cNvPr id="3" name="Paketga kiritilgan keyingi bosqich">
            <a:extLst xmlns:a="http://schemas.openxmlformats.org/drawingml/2006/main">
              <a:ext uri="{FF2B5EF4-FFF2-40B4-BE49-F238E27FC236}">
                <a16:creationId xmlns:a16="http://schemas.microsoft.com/office/drawing/2014/main" id="{D0C8D52D-3052-483E-AD32-86C710A5BA30}"/>
              </a:ext>
            </a:extLst>
          </p:cNvPr>
          <p:cNvSpPr>
            <a:spLocks xmlns:a="http://schemas.openxmlformats.org/drawingml/2006/main" noGrp="1"/>
          </p:cNvSpPr>
          <p:nvPr/>
        </p:nvSpPr>
        <p:spPr>
          <a:xfrm xmlns:a="http://schemas.openxmlformats.org/drawingml/2006/main">
            <a:off x="4714875" y="2143125"/>
            <a:ext cx="685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i="0">
                <a:solidFill>
                  <a:srgbClr val="622C46"/>
                </a:solidFill>
                <a:latin typeface="Arial"/>
                <a:ea typeface="Arial"/>
                <a:cs typeface="Arial"/>
              </a:defRPr>
            </a:defPPr>
          </a:lstStyle>
          <a:p xmlns:a="http://schemas.openxmlformats.org/drawingml/2006/main">
            <a:pPr>
              <a:defRPr sz="1875" b="1" i="0">
                <a:solidFill>
                  <a:srgbClr val="622C46"/>
                </a:solidFill>
                <a:latin typeface="Arial"/>
                <a:ea typeface="Arial"/>
                <a:cs typeface="Arial"/>
              </a:defRPr>
            </a:pPr>
            <a:r>
              <a:rPr sz="1875" b="1" i="0">
                <a:solidFill>
                  <a:srgbClr val="622C46"/>
                </a:solidFill>
                <a:latin typeface="Arial"/>
                <a:ea typeface="Arial"/>
                <a:cs typeface="Arial"/>
              </a:rPr>
              <a:t>Paketga kiritilgan keyingi bosqich</a:t>
            </a:r>
          </a:p>
        </p:txBody>
      </p:sp>
      <p:sp>
        <p:nvSpPr>
          <p:cNvPr id="4" name="01">
            <a:extLst xmlns:a="http://schemas.openxmlformats.org/drawingml/2006/main">
              <a:ext uri="{FF2B5EF4-FFF2-40B4-BE49-F238E27FC236}">
                <a16:creationId xmlns:a16="http://schemas.microsoft.com/office/drawing/2014/main" id="{5CC1D91D-99B7-4C24-821F-7C04E476256D}"/>
              </a:ext>
            </a:extLst>
          </p:cNvPr>
          <p:cNvSpPr>
            <a:spLocks xmlns:a="http://schemas.openxmlformats.org/drawingml/2006/main" noGrp="1"/>
          </p:cNvSpPr>
          <p:nvPr/>
        </p:nvSpPr>
        <p:spPr>
          <a:xfrm xmlns:a="http://schemas.openxmlformats.org/drawingml/2006/main">
            <a:off x="4724400" y="2905125"/>
            <a:ext cx="533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i="0">
                <a:solidFill>
                  <a:srgbClr val="622C46"/>
                </a:solidFill>
                <a:latin typeface="Georgia"/>
                <a:ea typeface="Georgia"/>
                <a:cs typeface="Georgia"/>
              </a:defRPr>
            </a:defPPr>
          </a:lstStyle>
          <a:p xmlns:a="http://schemas.openxmlformats.org/drawingml/2006/main">
            <a:pPr>
              <a:defRPr sz="2400" b="0" i="0">
                <a:solidFill>
                  <a:srgbClr val="622C46"/>
                </a:solidFill>
                <a:latin typeface="Georgia"/>
                <a:ea typeface="Georgia"/>
                <a:cs typeface="Georgia"/>
              </a:defRPr>
            </a:pPr>
            <a:r>
              <a:rPr sz="2400" b="0" i="0">
                <a:solidFill>
                  <a:srgbClr val="622C46"/>
                </a:solidFill>
                <a:latin typeface="Georgia"/>
                <a:ea typeface="Georgia"/>
                <a:cs typeface="Georgia"/>
              </a:rPr>
              <a:t>01</a:t>
            </a:r>
          </a:p>
        </p:txBody>
      </p:sp>
      <p:sp>
        <p:nvSpPr>
          <p:cNvPr id="5" name="Mijoz saytda buyurtma yoki savol yuboradi.">
            <a:extLst xmlns:a="http://schemas.openxmlformats.org/drawingml/2006/main">
              <a:ext uri="{FF2B5EF4-FFF2-40B4-BE49-F238E27FC236}">
                <a16:creationId xmlns:a16="http://schemas.microsoft.com/office/drawing/2014/main" id="{9B1B77BB-FA45-49CB-A6BE-E2336C7C83EB}"/>
              </a:ext>
            </a:extLst>
          </p:cNvPr>
          <p:cNvSpPr>
            <a:spLocks xmlns:a="http://schemas.openxmlformats.org/drawingml/2006/main" noGrp="1"/>
          </p:cNvSpPr>
          <p:nvPr/>
        </p:nvSpPr>
        <p:spPr>
          <a:xfrm xmlns:a="http://schemas.openxmlformats.org/drawingml/2006/main">
            <a:off x="5438775" y="2924175"/>
            <a:ext cx="6191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i="0">
                <a:solidFill>
                  <a:srgbClr val="261A20"/>
                </a:solidFill>
                <a:latin typeface="Arial"/>
                <a:ea typeface="Arial"/>
                <a:cs typeface="Arial"/>
              </a:defRPr>
            </a:defPPr>
          </a:lstStyle>
          <a:p xmlns:a="http://schemas.openxmlformats.org/drawingml/2006/main">
            <a:pPr>
              <a:defRPr sz="2025" b="0" i="0">
                <a:solidFill>
                  <a:srgbClr val="261A20"/>
                </a:solidFill>
                <a:latin typeface="Arial"/>
                <a:ea typeface="Arial"/>
                <a:cs typeface="Arial"/>
              </a:defRPr>
            </a:pPr>
            <a:r>
              <a:rPr sz="2025" b="0" i="0">
                <a:solidFill>
                  <a:srgbClr val="261A20"/>
                </a:solidFill>
                <a:latin typeface="Arial"/>
                <a:ea typeface="Arial"/>
                <a:cs typeface="Arial"/>
              </a:rPr>
              <a:t>Mijoz saytda buyurtma yoki savol yuboradi.</a:t>
            </a:r>
          </a:p>
        </p:txBody>
      </p:sp>
      <p:sp>
        <p:nvSpPr>
          <p:cNvPr id="6" name="02">
            <a:extLst xmlns:a="http://schemas.openxmlformats.org/drawingml/2006/main">
              <a:ext uri="{FF2B5EF4-FFF2-40B4-BE49-F238E27FC236}">
                <a16:creationId xmlns:a16="http://schemas.microsoft.com/office/drawing/2014/main" id="{0BC14EB0-BF04-44EF-B69C-F541674381FD}"/>
              </a:ext>
            </a:extLst>
          </p:cNvPr>
          <p:cNvSpPr>
            <a:spLocks xmlns:a="http://schemas.openxmlformats.org/drawingml/2006/main" noGrp="1"/>
          </p:cNvSpPr>
          <p:nvPr/>
        </p:nvSpPr>
        <p:spPr>
          <a:xfrm xmlns:a="http://schemas.openxmlformats.org/drawingml/2006/main">
            <a:off x="4724400" y="3790950"/>
            <a:ext cx="533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i="0">
                <a:solidFill>
                  <a:srgbClr val="622C46"/>
                </a:solidFill>
                <a:latin typeface="Georgia"/>
                <a:ea typeface="Georgia"/>
                <a:cs typeface="Georgia"/>
              </a:defRPr>
            </a:defPPr>
          </a:lstStyle>
          <a:p xmlns:a="http://schemas.openxmlformats.org/drawingml/2006/main">
            <a:pPr>
              <a:defRPr sz="2400" b="0" i="0">
                <a:solidFill>
                  <a:srgbClr val="622C46"/>
                </a:solidFill>
                <a:latin typeface="Georgia"/>
                <a:ea typeface="Georgia"/>
                <a:cs typeface="Georgia"/>
              </a:defRPr>
            </a:pPr>
            <a:r>
              <a:rPr sz="2400" b="0" i="0">
                <a:solidFill>
                  <a:srgbClr val="622C46"/>
                </a:solidFill>
                <a:latin typeface="Georgia"/>
                <a:ea typeface="Georgia"/>
                <a:cs typeface="Georgia"/>
              </a:rPr>
              <a:t>02</a:t>
            </a:r>
          </a:p>
        </p:txBody>
      </p:sp>
      <p:sp>
        <p:nvSpPr>
          <p:cNvPr id="7" name="Bot biznes egasiga kiyim, variant, telefon&#10;va jami summa bilan xabar j">
            <a:extLst xmlns:a="http://schemas.openxmlformats.org/drawingml/2006/main">
              <a:ext uri="{FF2B5EF4-FFF2-40B4-BE49-F238E27FC236}">
                <a16:creationId xmlns:a16="http://schemas.microsoft.com/office/drawing/2014/main" id="{12C20DE3-7FE3-400A-8A78-0D4790DDF720}"/>
              </a:ext>
            </a:extLst>
          </p:cNvPr>
          <p:cNvSpPr>
            <a:spLocks xmlns:a="http://schemas.openxmlformats.org/drawingml/2006/main" noGrp="1"/>
          </p:cNvSpPr>
          <p:nvPr/>
        </p:nvSpPr>
        <p:spPr>
          <a:xfrm xmlns:a="http://schemas.openxmlformats.org/drawingml/2006/main">
            <a:off x="5438775" y="3810000"/>
            <a:ext cx="6191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i="0">
                <a:solidFill>
                  <a:srgbClr val="261A20"/>
                </a:solidFill>
                <a:latin typeface="Arial"/>
                <a:ea typeface="Arial"/>
                <a:cs typeface="Arial"/>
              </a:defRPr>
            </a:defPPr>
          </a:lstStyle>
          <a:p xmlns:a="http://schemas.openxmlformats.org/drawingml/2006/main">
            <a:pPr>
              <a:defRPr sz="2025" b="0" i="0">
                <a:solidFill>
                  <a:srgbClr val="261A20"/>
                </a:solidFill>
                <a:latin typeface="Arial"/>
                <a:ea typeface="Arial"/>
                <a:cs typeface="Arial"/>
              </a:defRPr>
            </a:pPr>
            <a:r>
              <a:rPr sz="2025" b="0" i="0">
                <a:solidFill>
                  <a:srgbClr val="261A20"/>
                </a:solidFill>
                <a:latin typeface="Arial"/>
                <a:ea typeface="Arial"/>
                <a:cs typeface="Arial"/>
              </a:rPr>
              <a:t>Bot biznes egasiga kiyim, variant, telefon</a:t>
            </a:r>
          </a:p>
          <a:p xmlns:a="http://schemas.openxmlformats.org/drawingml/2006/main">
            <a:pPr>
              <a:defRPr sz="2025" b="0" i="0">
                <a:solidFill>
                  <a:srgbClr val="261A20"/>
                </a:solidFill>
                <a:latin typeface="Arial"/>
                <a:ea typeface="Arial"/>
                <a:cs typeface="Arial"/>
              </a:defRPr>
            </a:pPr>
            <a:r>
              <a:rPr sz="2025" b="0" i="0">
                <a:solidFill>
                  <a:srgbClr val="261A20"/>
                </a:solidFill>
                <a:latin typeface="Arial"/>
                <a:ea typeface="Arial"/>
                <a:cs typeface="Arial"/>
              </a:rPr>
              <a:t>va jami summa bilan xabar jo‘natadi.</a:t>
            </a:r>
          </a:p>
        </p:txBody>
      </p:sp>
      <p:sp>
        <p:nvSpPr>
          <p:cNvPr id="8" name="03">
            <a:extLst xmlns:a="http://schemas.openxmlformats.org/drawingml/2006/main">
              <a:ext uri="{FF2B5EF4-FFF2-40B4-BE49-F238E27FC236}">
                <a16:creationId xmlns:a16="http://schemas.microsoft.com/office/drawing/2014/main" id="{6B22C137-EE4D-49B8-8164-758B02EB035E}"/>
              </a:ext>
            </a:extLst>
          </p:cNvPr>
          <p:cNvSpPr>
            <a:spLocks xmlns:a="http://schemas.openxmlformats.org/drawingml/2006/main" noGrp="1"/>
          </p:cNvSpPr>
          <p:nvPr/>
        </p:nvSpPr>
        <p:spPr>
          <a:xfrm xmlns:a="http://schemas.openxmlformats.org/drawingml/2006/main">
            <a:off x="4724400" y="4810125"/>
            <a:ext cx="533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i="0">
                <a:solidFill>
                  <a:srgbClr val="622C46"/>
                </a:solidFill>
                <a:latin typeface="Georgia"/>
                <a:ea typeface="Georgia"/>
                <a:cs typeface="Georgia"/>
              </a:defRPr>
            </a:defPPr>
          </a:lstStyle>
          <a:p xmlns:a="http://schemas.openxmlformats.org/drawingml/2006/main">
            <a:pPr>
              <a:defRPr sz="2400" b="0" i="0">
                <a:solidFill>
                  <a:srgbClr val="622C46"/>
                </a:solidFill>
                <a:latin typeface="Georgia"/>
                <a:ea typeface="Georgia"/>
                <a:cs typeface="Georgia"/>
              </a:defRPr>
            </a:pPr>
            <a:r>
              <a:rPr sz="2400" b="0" i="0">
                <a:solidFill>
                  <a:srgbClr val="622C46"/>
                </a:solidFill>
                <a:latin typeface="Georgia"/>
                <a:ea typeface="Georgia"/>
                <a:cs typeface="Georgia"/>
              </a:rPr>
              <a:t>03</a:t>
            </a:r>
          </a:p>
        </p:txBody>
      </p:sp>
      <p:sp>
        <p:nvSpPr>
          <p:cNvPr id="9" name="Egasi mijoz bilan bog‘lanadi va buyurtmani&#10;admin panelda boshqaradi.">
            <a:extLst xmlns:a="http://schemas.openxmlformats.org/drawingml/2006/main">
              <a:ext uri="{FF2B5EF4-FFF2-40B4-BE49-F238E27FC236}">
                <a16:creationId xmlns:a16="http://schemas.microsoft.com/office/drawing/2014/main" id="{A4C8DCC8-71D6-42FB-A2FA-7D4E8127F1F7}"/>
              </a:ext>
            </a:extLst>
          </p:cNvPr>
          <p:cNvSpPr>
            <a:spLocks xmlns:a="http://schemas.openxmlformats.org/drawingml/2006/main" noGrp="1"/>
          </p:cNvSpPr>
          <p:nvPr/>
        </p:nvSpPr>
        <p:spPr>
          <a:xfrm xmlns:a="http://schemas.openxmlformats.org/drawingml/2006/main">
            <a:off x="5438775" y="4829175"/>
            <a:ext cx="6191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i="0">
                <a:solidFill>
                  <a:srgbClr val="261A20"/>
                </a:solidFill>
                <a:latin typeface="Arial"/>
                <a:ea typeface="Arial"/>
                <a:cs typeface="Arial"/>
              </a:defRPr>
            </a:defPPr>
          </a:lstStyle>
          <a:p xmlns:a="http://schemas.openxmlformats.org/drawingml/2006/main">
            <a:pPr>
              <a:defRPr sz="2025" b="0" i="0">
                <a:solidFill>
                  <a:srgbClr val="261A20"/>
                </a:solidFill>
                <a:latin typeface="Arial"/>
                <a:ea typeface="Arial"/>
                <a:cs typeface="Arial"/>
              </a:defRPr>
            </a:pPr>
            <a:r>
              <a:rPr sz="2025" b="0" i="0">
                <a:solidFill>
                  <a:srgbClr val="261A20"/>
                </a:solidFill>
                <a:latin typeface="Arial"/>
                <a:ea typeface="Arial"/>
                <a:cs typeface="Arial"/>
              </a:rPr>
              <a:t>Egasi mijoz bilan bog‘lanadi va buyurtmani</a:t>
            </a:r>
          </a:p>
          <a:p xmlns:a="http://schemas.openxmlformats.org/drawingml/2006/main">
            <a:pPr>
              <a:defRPr sz="2025" b="0" i="0">
                <a:solidFill>
                  <a:srgbClr val="261A20"/>
                </a:solidFill>
                <a:latin typeface="Arial"/>
                <a:ea typeface="Arial"/>
                <a:cs typeface="Arial"/>
              </a:defRPr>
            </a:pPr>
            <a:r>
              <a:rPr sz="2025" b="0" i="0">
                <a:solidFill>
                  <a:srgbClr val="261A20"/>
                </a:solidFill>
                <a:latin typeface="Arial"/>
                <a:ea typeface="Arial"/>
                <a:cs typeface="Arial"/>
              </a:rPr>
              <a:t>admin panelda boshqaradi.</a:t>
            </a:r>
          </a:p>
        </p:txBody>
      </p:sp>
      <p:sp>
        <p:nvSpPr>
          <p:cNvPr id="10" name="Bot demo tasdiqlangach ulanadi.&#10;Hozir buyurtma va murojaatlar admin pa">
            <a:extLst xmlns:a="http://schemas.openxmlformats.org/drawingml/2006/main">
              <a:ext uri="{FF2B5EF4-FFF2-40B4-BE49-F238E27FC236}">
                <a16:creationId xmlns:a16="http://schemas.microsoft.com/office/drawing/2014/main" id="{A7FA3C2E-6B10-4A58-A23D-D5B03192A69A}"/>
              </a:ext>
            </a:extLst>
          </p:cNvPr>
          <p:cNvSpPr>
            <a:spLocks xmlns:a="http://schemas.openxmlformats.org/drawingml/2006/main" noGrp="1"/>
          </p:cNvSpPr>
          <p:nvPr/>
        </p:nvSpPr>
        <p:spPr>
          <a:xfrm xmlns:a="http://schemas.openxmlformats.org/drawingml/2006/main">
            <a:off x="4714875" y="5953125"/>
            <a:ext cx="6934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i="0">
                <a:solidFill>
                  <a:srgbClr val="655A5C"/>
                </a:solidFill>
                <a:latin typeface="Arial"/>
                <a:ea typeface="Arial"/>
                <a:cs typeface="Arial"/>
              </a:defRPr>
            </a:defPPr>
          </a:lstStyle>
          <a:p xmlns:a="http://schemas.openxmlformats.org/drawingml/2006/main">
            <a:pPr>
              <a:defRPr sz="1575" b="0" i="0">
                <a:solidFill>
                  <a:srgbClr val="655A5C"/>
                </a:solidFill>
                <a:latin typeface="Arial"/>
                <a:ea typeface="Arial"/>
                <a:cs typeface="Arial"/>
              </a:defRPr>
            </a:pPr>
            <a:r>
              <a:rPr sz="1575" b="0" i="0">
                <a:solidFill>
                  <a:srgbClr val="655A5C"/>
                </a:solidFill>
                <a:latin typeface="Arial"/>
                <a:ea typeface="Arial"/>
                <a:cs typeface="Arial"/>
              </a:rPr>
              <a:t>Bot demo tasdiqlangach ulanadi.</a:t>
            </a:r>
          </a:p>
          <a:p xmlns:a="http://schemas.openxmlformats.org/drawingml/2006/main">
            <a:pPr>
              <a:defRPr sz="1575" b="0" i="0">
                <a:solidFill>
                  <a:srgbClr val="655A5C"/>
                </a:solidFill>
                <a:latin typeface="Arial"/>
                <a:ea typeface="Arial"/>
                <a:cs typeface="Arial"/>
              </a:defRPr>
            </a:pPr>
            <a:r>
              <a:rPr sz="1575" b="0" i="0">
                <a:solidFill>
                  <a:srgbClr val="655A5C"/>
                </a:solidFill>
                <a:latin typeface="Arial"/>
                <a:ea typeface="Arial"/>
                <a:cs typeface="Arial"/>
              </a:rPr>
              <a:t>Hozir buyurtma va murojaatlar admin panelda saqlanadi.</a:t>
            </a:r>
          </a:p>
        </p:txBody>
      </p:sp>
    </p:spTree>
    <p:extLst>
      <p:ext uri="{BB962C8B-B14F-4D97-AF65-F5344CB8AC3E}">
        <p14:creationId xmlns:p14="http://schemas.microsoft.com/office/powerpoint/2010/main" val="1981198092"/>
      </p:ext>
    </p:extLst>
  </p:cSld>
</p:sld>
</file>

<file path=ppt/slides/slide6.xml><?xml version="1.0" encoding="utf-8"?>
<p:sld xmlns:p="http://schemas.openxmlformats.org/presentationml/2006/main">
  <p:cSld>
    <p:bg>
      <p:bgPr>
        <a:solidFill xmlns:a="http://schemas.openxmlformats.org/drawingml/2006/main">
          <a:srgbClr val="622C46"/>
        </a:solidFill>
      </p:bgPr>
    </p:bg>
    <p:spTree>
      <p:nvGrpSpPr>
        <p:cNvPr id="1" name=""/>
        <p:cNvGrpSpPr/>
        <p:nvPr/>
      </p:nvGrpSpPr>
      <p:grpSpPr>
        <a:xfrm xmlns:a="http://schemas.openxmlformats.org/drawingml/2006/main"/>
      </p:grpSpPr>
      <p:sp>
        <p:nvSpPr>
          <p:cNvPr id="14" name="To‘liq paket">
            <a:extLst xmlns:a="http://schemas.openxmlformats.org/drawingml/2006/main">
              <a:ext uri="{FF2B5EF4-FFF2-40B4-BE49-F238E27FC236}">
                <a16:creationId xmlns:a16="http://schemas.microsoft.com/office/drawing/2014/main" id="{54608149-857D-4C68-8205-8E36122D8545}"/>
              </a:ext>
            </a:extLst>
          </p:cNvPr>
          <p:cNvSpPr>
            <a:spLocks xmlns:a="http://schemas.openxmlformats.org/drawingml/2006/main" noGrp="1"/>
          </p:cNvSpPr>
          <p:nvPr/>
        </p:nvSpPr>
        <p:spPr>
          <a:xfrm xmlns:a="http://schemas.openxmlformats.org/drawingml/2006/main">
            <a:off x="571500" y="466725"/>
            <a:ext cx="6553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0" i="0">
                <a:solidFill>
                  <a:srgbClr val="FFF9F2"/>
                </a:solidFill>
                <a:latin typeface="Georgia"/>
                <a:ea typeface="Georgia"/>
                <a:cs typeface="Georgia"/>
              </a:defRPr>
            </a:defPPr>
          </a:lstStyle>
          <a:p xmlns:a="http://schemas.openxmlformats.org/drawingml/2006/main">
            <a:pPr>
              <a:defRPr sz="3450" b="0" i="0">
                <a:solidFill>
                  <a:srgbClr val="FFF9F2"/>
                </a:solidFill>
                <a:latin typeface="Georgia"/>
                <a:ea typeface="Georgia"/>
                <a:cs typeface="Georgia"/>
              </a:defRPr>
            </a:pPr>
            <a:r>
              <a:rPr sz="3450" b="0" i="0">
                <a:solidFill>
                  <a:srgbClr val="FFF9F2"/>
                </a:solidFill>
                <a:latin typeface="Georgia"/>
                <a:ea typeface="Georgia"/>
                <a:cs typeface="Georgia"/>
              </a:rPr>
              <a:t>To‘liq paket</a:t>
            </a:r>
          </a:p>
        </p:txBody>
      </p:sp>
      <p:sp>
        <p:nvSpPr>
          <p:cNvPr id="2" name="≈ $378">
            <a:extLst xmlns:a="http://schemas.openxmlformats.org/drawingml/2006/main">
              <a:ext uri="{FF2B5EF4-FFF2-40B4-BE49-F238E27FC236}">
                <a16:creationId xmlns:a16="http://schemas.microsoft.com/office/drawing/2014/main" id="{D777C102-047C-4822-82D9-F59568E99073}"/>
              </a:ext>
            </a:extLst>
          </p:cNvPr>
          <p:cNvSpPr>
            <a:spLocks xmlns:a="http://schemas.openxmlformats.org/drawingml/2006/main" noGrp="1"/>
          </p:cNvSpPr>
          <p:nvPr/>
        </p:nvSpPr>
        <p:spPr>
          <a:xfrm xmlns:a="http://schemas.openxmlformats.org/drawingml/2006/main">
            <a:off x="552450" y="1238250"/>
            <a:ext cx="6534150" cy="1343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8400" b="0" i="0">
                <a:solidFill>
                  <a:srgbClr val="FFF9F2"/>
                </a:solidFill>
                <a:latin typeface="Georgia"/>
                <a:ea typeface="Georgia"/>
                <a:cs typeface="Georgia"/>
              </a:defRPr>
            </a:defPPr>
          </a:lstStyle>
          <a:p xmlns:a="http://schemas.openxmlformats.org/drawingml/2006/main">
            <a:pPr>
              <a:defRPr sz="8400" b="0" i="0">
                <a:solidFill>
                  <a:srgbClr val="FFF9F2"/>
                </a:solidFill>
                <a:latin typeface="Georgia"/>
                <a:ea typeface="Georgia"/>
                <a:cs typeface="Georgia"/>
              </a:defRPr>
            </a:pPr>
            <a:r>
              <a:rPr sz="8400" b="0" i="0">
                <a:solidFill>
                  <a:srgbClr val="FFF9F2"/>
                </a:solidFill>
                <a:latin typeface="Georgia"/>
                <a:ea typeface="Georgia"/>
                <a:cs typeface="Georgia"/>
              </a:rPr>
              <a:t>≈ $378</a:t>
            </a:r>
          </a:p>
        </p:txBody>
      </p:sp>
      <p:sp>
        <p:nvSpPr>
          <p:cNvPr id="3" name="Bir martalik loyiha narxi">
            <a:extLst xmlns:a="http://schemas.openxmlformats.org/drawingml/2006/main">
              <a:ext uri="{FF2B5EF4-FFF2-40B4-BE49-F238E27FC236}">
                <a16:creationId xmlns:a16="http://schemas.microsoft.com/office/drawing/2014/main" id="{8D4BC7EC-1FA9-4DEC-969D-932F9F7AD6E9}"/>
              </a:ext>
            </a:extLst>
          </p:cNvPr>
          <p:cNvSpPr>
            <a:spLocks xmlns:a="http://schemas.openxmlformats.org/drawingml/2006/main" noGrp="1"/>
          </p:cNvSpPr>
          <p:nvPr/>
        </p:nvSpPr>
        <p:spPr>
          <a:xfrm xmlns:a="http://schemas.openxmlformats.org/drawingml/2006/main">
            <a:off x="609600" y="2714625"/>
            <a:ext cx="63246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i="0">
                <a:solidFill>
                  <a:srgbClr val="EAD9CF"/>
                </a:solidFill>
                <a:latin typeface="Arial"/>
                <a:ea typeface="Arial"/>
                <a:cs typeface="Arial"/>
              </a:defRPr>
            </a:defPPr>
          </a:lstStyle>
          <a:p xmlns:a="http://schemas.openxmlformats.org/drawingml/2006/main">
            <a:pPr>
              <a:defRPr sz="1950" b="0" i="0">
                <a:solidFill>
                  <a:srgbClr val="EAD9CF"/>
                </a:solidFill>
                <a:latin typeface="Arial"/>
                <a:ea typeface="Arial"/>
                <a:cs typeface="Arial"/>
              </a:defRPr>
            </a:pPr>
            <a:r>
              <a:rPr sz="1950" b="0" i="0">
                <a:solidFill>
                  <a:srgbClr val="EAD9CF"/>
                </a:solidFill>
                <a:latin typeface="Arial"/>
                <a:ea typeface="Arial"/>
                <a:cs typeface="Arial"/>
              </a:rPr>
              <a:t>Bir martalik loyiha narxi</a:t>
            </a:r>
          </a:p>
        </p:txBody>
      </p:sp>
      <p:sp>
        <p:nvSpPr>
          <p:cNvPr id="4" name="Veb sayt, admin panel va Telegram bot">
            <a:extLst xmlns:a="http://schemas.openxmlformats.org/drawingml/2006/main">
              <a:ext uri="{FF2B5EF4-FFF2-40B4-BE49-F238E27FC236}">
                <a16:creationId xmlns:a16="http://schemas.microsoft.com/office/drawing/2014/main" id="{AC02364C-E9DD-47DA-AB0E-8D747C84DCC2}"/>
              </a:ext>
            </a:extLst>
          </p:cNvPr>
          <p:cNvSpPr>
            <a:spLocks xmlns:a="http://schemas.openxmlformats.org/drawingml/2006/main" noGrp="1"/>
          </p:cNvSpPr>
          <p:nvPr/>
        </p:nvSpPr>
        <p:spPr>
          <a:xfrm xmlns:a="http://schemas.openxmlformats.org/drawingml/2006/main">
            <a:off x="609600" y="3228975"/>
            <a:ext cx="6381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i="0">
                <a:solidFill>
                  <a:srgbClr val="FFF9F2"/>
                </a:solidFill>
                <a:latin typeface="Arial"/>
                <a:ea typeface="Arial"/>
                <a:cs typeface="Arial"/>
              </a:defRPr>
            </a:defPPr>
          </a:lstStyle>
          <a:p xmlns:a="http://schemas.openxmlformats.org/drawingml/2006/main">
            <a:pPr>
              <a:defRPr sz="1950" b="1" i="0">
                <a:solidFill>
                  <a:srgbClr val="FFF9F2"/>
                </a:solidFill>
                <a:latin typeface="Arial"/>
                <a:ea typeface="Arial"/>
                <a:cs typeface="Arial"/>
              </a:defRPr>
            </a:pPr>
            <a:r>
              <a:rPr sz="1950" b="1" i="0">
                <a:solidFill>
                  <a:srgbClr val="FFF9F2"/>
                </a:solidFill>
                <a:latin typeface="Arial"/>
                <a:ea typeface="Arial"/>
                <a:cs typeface="Arial"/>
              </a:rPr>
              <a:t>Veb sayt, admin panel va Telegram bot</a:t>
            </a:r>
          </a:p>
        </p:txBody>
      </p:sp>
      <p:sp>
        <p:nvSpPr>
          <p:cNvPr id="5" name="Boshlang‘ich sozlash va&#10;3 oy bepul servis">
            <a:extLst xmlns:a="http://schemas.openxmlformats.org/drawingml/2006/main">
              <a:ext uri="{FF2B5EF4-FFF2-40B4-BE49-F238E27FC236}">
                <a16:creationId xmlns:a16="http://schemas.microsoft.com/office/drawing/2014/main" id="{797549A1-D521-45DE-BEF9-DF80AFBA319F}"/>
              </a:ext>
            </a:extLst>
          </p:cNvPr>
          <p:cNvSpPr>
            <a:spLocks xmlns:a="http://schemas.openxmlformats.org/drawingml/2006/main" noGrp="1"/>
          </p:cNvSpPr>
          <p:nvPr/>
        </p:nvSpPr>
        <p:spPr>
          <a:xfrm xmlns:a="http://schemas.openxmlformats.org/drawingml/2006/main">
            <a:off x="600075" y="3933825"/>
            <a:ext cx="637222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0" i="0">
                <a:solidFill>
                  <a:srgbClr val="FFF9F2"/>
                </a:solidFill>
                <a:latin typeface="Georgia"/>
                <a:ea typeface="Georgia"/>
                <a:cs typeface="Georgia"/>
              </a:defRPr>
            </a:defPPr>
          </a:lstStyle>
          <a:p xmlns:a="http://schemas.openxmlformats.org/drawingml/2006/main">
            <a:pPr>
              <a:defRPr sz="2850" b="0" i="0">
                <a:solidFill>
                  <a:srgbClr val="FFF9F2"/>
                </a:solidFill>
                <a:latin typeface="Georgia"/>
                <a:ea typeface="Georgia"/>
                <a:cs typeface="Georgia"/>
              </a:defRPr>
            </a:pPr>
            <a:r>
              <a:rPr sz="2850" b="0" i="0">
                <a:solidFill>
                  <a:srgbClr val="FFF9F2"/>
                </a:solidFill>
                <a:latin typeface="Georgia"/>
                <a:ea typeface="Georgia"/>
                <a:cs typeface="Georgia"/>
              </a:rPr>
              <a:t>Boshlang‘ich sozlash va</a:t>
            </a:r>
          </a:p>
          <a:p xmlns:a="http://schemas.openxmlformats.org/drawingml/2006/main">
            <a:pPr>
              <a:defRPr sz="2850" b="0" i="0">
                <a:solidFill>
                  <a:srgbClr val="FFF9F2"/>
                </a:solidFill>
                <a:latin typeface="Georgia"/>
                <a:ea typeface="Georgia"/>
                <a:cs typeface="Georgia"/>
              </a:defRPr>
            </a:pPr>
            <a:r>
              <a:rPr sz="2850" b="0" i="0">
                <a:solidFill>
                  <a:srgbClr val="FFF9F2"/>
                </a:solidFill>
                <a:latin typeface="Georgia"/>
                <a:ea typeface="Georgia"/>
                <a:cs typeface="Georgia"/>
              </a:rPr>
              <a:t>3 oy bepul servis</a:t>
            </a:r>
          </a:p>
        </p:txBody>
      </p:sp>
      <p:sp>
        <p:nvSpPr>
          <p:cNvPr id="6" name="Saytga oid har qanday muammoni sozlab&#10;berish va servis xizmati bepul.">
            <a:extLst xmlns:a="http://schemas.openxmlformats.org/drawingml/2006/main">
              <a:ext uri="{FF2B5EF4-FFF2-40B4-BE49-F238E27FC236}">
                <a16:creationId xmlns:a16="http://schemas.microsoft.com/office/drawing/2014/main" id="{6665A4AD-4B5D-49B6-86CB-0DA470D3EDF7}"/>
              </a:ext>
            </a:extLst>
          </p:cNvPr>
          <p:cNvSpPr>
            <a:spLocks xmlns:a="http://schemas.openxmlformats.org/drawingml/2006/main" noGrp="1"/>
          </p:cNvSpPr>
          <p:nvPr/>
        </p:nvSpPr>
        <p:spPr>
          <a:xfrm xmlns:a="http://schemas.openxmlformats.org/drawingml/2006/main">
            <a:off x="609600" y="5095875"/>
            <a:ext cx="6524625"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i="0">
                <a:solidFill>
                  <a:srgbClr val="FFF9F2"/>
                </a:solidFill>
                <a:latin typeface="Arial"/>
                <a:ea typeface="Arial"/>
                <a:cs typeface="Arial"/>
              </a:defRPr>
            </a:defPPr>
          </a:lstStyle>
          <a:p xmlns:a="http://schemas.openxmlformats.org/drawingml/2006/main">
            <a:pPr>
              <a:defRPr sz="1950" b="0" i="0">
                <a:solidFill>
                  <a:srgbClr val="FFF9F2"/>
                </a:solidFill>
                <a:latin typeface="Arial"/>
                <a:ea typeface="Arial"/>
                <a:cs typeface="Arial"/>
              </a:defRPr>
            </a:pPr>
            <a:r>
              <a:rPr sz="1950" b="0" i="0">
                <a:solidFill>
                  <a:srgbClr val="FFF9F2"/>
                </a:solidFill>
                <a:latin typeface="Arial"/>
                <a:ea typeface="Arial"/>
                <a:cs typeface="Arial"/>
              </a:rPr>
              <a:t>Saytga oid har qanday muammoni sozlab</a:t>
            </a:r>
          </a:p>
          <a:p xmlns:a="http://schemas.openxmlformats.org/drawingml/2006/main">
            <a:pPr>
              <a:defRPr sz="1950" b="0" i="0">
                <a:solidFill>
                  <a:srgbClr val="FFF9F2"/>
                </a:solidFill>
                <a:latin typeface="Arial"/>
                <a:ea typeface="Arial"/>
                <a:cs typeface="Arial"/>
              </a:defRPr>
            </a:pPr>
            <a:r>
              <a:rPr sz="1950" b="0" i="0">
                <a:solidFill>
                  <a:srgbClr val="FFF9F2"/>
                </a:solidFill>
                <a:latin typeface="Arial"/>
                <a:ea typeface="Arial"/>
                <a:cs typeface="Arial"/>
              </a:rPr>
              <a:t>berish va servis xizmati bepul.</a:t>
            </a:r>
          </a:p>
        </p:txBody>
      </p:sp>
      <p:pic>
        <p:nvPicPr>
          <p:cNvPr id="7" name="">
            <a:extLst xmlns:a="http://schemas.openxmlformats.org/drawingml/2006/main">
              <a:ext uri="{FF2B5EF4-FFF2-40B4-BE49-F238E27FC236}">
                <a16:creationId xmlns:a16="http://schemas.microsoft.com/office/drawing/2014/main" id="{58FDC642-495C-440C-945A-82BD5867EE61}"/>
              </a:ext>
            </a:extLst>
          </p:cNvPr>
          <p:cNvPicPr>
            <a:picLocks xmlns:a="http://schemas.openxmlformats.org/drawingml/2006/main" noChangeAspect="1"/>
          </p:cNvPicPr>
          <p:nvPr/>
        </p:nvPicPr>
        <p:blipFill>
          <a:blip xmlns:r="http://schemas.openxmlformats.org/officeDocument/2006/relationships" xmlns:a="http://schemas.openxmlformats.org/drawingml/2006/main" r:embed="Re3c72e98ee274e6d"/>
          <a:stretch xmlns:a="http://schemas.openxmlformats.org/drawingml/2006/main"/>
        </p:blipFill>
        <p:spPr>
          <a:xfrm xmlns:a="http://schemas.openxmlformats.org/drawingml/2006/main">
            <a:off x="8058150" y="1323975"/>
            <a:ext cx="1762125" cy="1762125"/>
          </a:xfrm>
          <a:prstGeom xmlns:a="http://schemas.openxmlformats.org/drawingml/2006/main" prst="rect">
            <a:avLst/>
          </a:prstGeom>
        </p:spPr>
      </p:pic>
      <p:sp>
        <p:nvSpPr>
          <p:cNvPr id="8" name="Saytni ko‘rish">
            <a:extLst xmlns:a="http://schemas.openxmlformats.org/drawingml/2006/main">
              <a:ext uri="{FF2B5EF4-FFF2-40B4-BE49-F238E27FC236}">
                <a16:creationId xmlns:a16="http://schemas.microsoft.com/office/drawing/2014/main" id="{2B2B33AF-820E-44E8-9B66-3E08CF78BBDE}"/>
              </a:ext>
            </a:extLst>
          </p:cNvPr>
          <p:cNvSpPr>
            <a:spLocks xmlns:a="http://schemas.openxmlformats.org/drawingml/2006/main" noGrp="1"/>
          </p:cNvSpPr>
          <p:nvPr/>
        </p:nvSpPr>
        <p:spPr>
          <a:xfrm xmlns:a="http://schemas.openxmlformats.org/drawingml/2006/main">
            <a:off x="8020050" y="3248025"/>
            <a:ext cx="35623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i="0">
                <a:solidFill>
                  <a:srgbClr val="FFF9F2"/>
                </a:solidFill>
                <a:latin typeface="Arial"/>
                <a:ea typeface="Arial"/>
                <a:cs typeface="Arial"/>
              </a:defRPr>
            </a:defPPr>
          </a:lstStyle>
          <a:p xmlns:a="http://schemas.openxmlformats.org/drawingml/2006/main">
            <a:pPr>
              <a:defRPr sz="1950" b="0" i="0">
                <a:solidFill>
                  <a:srgbClr val="FFF9F2"/>
                </a:solidFill>
                <a:latin typeface="Arial"/>
                <a:ea typeface="Arial"/>
                <a:cs typeface="Arial"/>
              </a:defRPr>
            </a:pPr>
            <a:r>
              <a:rPr sz="1950" b="0" i="0">
                <a:solidFill>
                  <a:srgbClr val="FFF9F2"/>
                </a:solidFill>
                <a:latin typeface="Arial"/>
                <a:ea typeface="Arial"/>
                <a:cs typeface="Arial"/>
                <a:hlinkClick xmlns:r="http://schemas.openxmlformats.org/officeDocument/2006/relationships" r:id="R3870679b77394b23"/>
              </a:rPr>
              <a:t>Saytni ko‘rish</a:t>
            </a:r>
          </a:p>
        </p:txBody>
      </p:sp>
      <p:pic>
        <p:nvPicPr>
          <p:cNvPr id="9" name="">
            <a:extLst xmlns:a="http://schemas.openxmlformats.org/drawingml/2006/main">
              <a:ext uri="{FF2B5EF4-FFF2-40B4-BE49-F238E27FC236}">
                <a16:creationId xmlns:a16="http://schemas.microsoft.com/office/drawing/2014/main" id="{29CFB3C8-2809-4613-A394-D57C692BD071}"/>
              </a:ext>
            </a:extLst>
          </p:cNvPr>
          <p:cNvPicPr>
            <a:picLocks xmlns:a="http://schemas.openxmlformats.org/drawingml/2006/main" noChangeAspect="1"/>
          </p:cNvPicPr>
          <p:nvPr/>
        </p:nvPicPr>
        <p:blipFill>
          <a:blip xmlns:r="http://schemas.openxmlformats.org/officeDocument/2006/relationships" xmlns:a="http://schemas.openxmlformats.org/drawingml/2006/main" r:embed="Re6f3a4cdcddf458f"/>
          <a:stretch xmlns:a="http://schemas.openxmlformats.org/drawingml/2006/main"/>
        </p:blipFill>
        <p:spPr>
          <a:xfrm xmlns:a="http://schemas.openxmlformats.org/drawingml/2006/main">
            <a:off x="8058150" y="3914775"/>
            <a:ext cx="1762125" cy="1762125"/>
          </a:xfrm>
          <a:prstGeom xmlns:a="http://schemas.openxmlformats.org/drawingml/2006/main" prst="rect">
            <a:avLst/>
          </a:prstGeom>
        </p:spPr>
      </p:pic>
      <p:sp>
        <p:nvSpPr>
          <p:cNvPr id="10" name="Admin kirish sahifasi">
            <a:extLst xmlns:a="http://schemas.openxmlformats.org/drawingml/2006/main">
              <a:ext uri="{FF2B5EF4-FFF2-40B4-BE49-F238E27FC236}">
                <a16:creationId xmlns:a16="http://schemas.microsoft.com/office/drawing/2014/main" id="{46391E87-A347-4C66-BA5E-8D5258BCF19A}"/>
              </a:ext>
            </a:extLst>
          </p:cNvPr>
          <p:cNvSpPr>
            <a:spLocks xmlns:a="http://schemas.openxmlformats.org/drawingml/2006/main" noGrp="1"/>
          </p:cNvSpPr>
          <p:nvPr/>
        </p:nvSpPr>
        <p:spPr>
          <a:xfrm xmlns:a="http://schemas.openxmlformats.org/drawingml/2006/main">
            <a:off x="8020050" y="5819775"/>
            <a:ext cx="35623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i="0">
                <a:solidFill>
                  <a:srgbClr val="FFF9F2"/>
                </a:solidFill>
                <a:latin typeface="Arial"/>
                <a:ea typeface="Arial"/>
                <a:cs typeface="Arial"/>
              </a:defRPr>
            </a:defPPr>
          </a:lstStyle>
          <a:p xmlns:a="http://schemas.openxmlformats.org/drawingml/2006/main">
            <a:pPr>
              <a:defRPr sz="1800" b="0" i="0">
                <a:solidFill>
                  <a:srgbClr val="FFF9F2"/>
                </a:solidFill>
                <a:latin typeface="Arial"/>
                <a:ea typeface="Arial"/>
                <a:cs typeface="Arial"/>
              </a:defRPr>
            </a:pPr>
            <a:r>
              <a:rPr sz="1800" b="0" i="0">
                <a:solidFill>
                  <a:srgbClr val="FFF9F2"/>
                </a:solidFill>
                <a:latin typeface="Arial"/>
                <a:ea typeface="Arial"/>
                <a:cs typeface="Arial"/>
                <a:hlinkClick xmlns:r="http://schemas.openxmlformats.org/officeDocument/2006/relationships" r:id="Rb815a35e56934e42"/>
              </a:rPr>
              <a:t>Admin kirish sahifasi</a:t>
            </a:r>
          </a:p>
        </p:txBody>
      </p:sp>
      <p:sp>
        <p:nvSpPr>
          <p:cNvPr id="11" name="Login va parol bilan kiriladi.">
            <a:extLst xmlns:a="http://schemas.openxmlformats.org/drawingml/2006/main">
              <a:ext uri="{FF2B5EF4-FFF2-40B4-BE49-F238E27FC236}">
                <a16:creationId xmlns:a16="http://schemas.microsoft.com/office/drawing/2014/main" id="{294A9B0B-8144-4940-A0C0-B8F61A5A20C0}"/>
              </a:ext>
            </a:extLst>
          </p:cNvPr>
          <p:cNvSpPr>
            <a:spLocks xmlns:a="http://schemas.openxmlformats.org/drawingml/2006/main" noGrp="1"/>
          </p:cNvSpPr>
          <p:nvPr/>
        </p:nvSpPr>
        <p:spPr>
          <a:xfrm xmlns:a="http://schemas.openxmlformats.org/drawingml/2006/main">
            <a:off x="8020050" y="6172200"/>
            <a:ext cx="35623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i="0">
                <a:solidFill>
                  <a:srgbClr val="EAD9CF"/>
                </a:solidFill>
                <a:latin typeface="Arial"/>
                <a:ea typeface="Arial"/>
                <a:cs typeface="Arial"/>
              </a:defRPr>
            </a:defPPr>
          </a:lstStyle>
          <a:p xmlns:a="http://schemas.openxmlformats.org/drawingml/2006/main">
            <a:pPr>
              <a:defRPr sz="1350" b="0" i="0">
                <a:solidFill>
                  <a:srgbClr val="EAD9CF"/>
                </a:solidFill>
                <a:latin typeface="Arial"/>
                <a:ea typeface="Arial"/>
                <a:cs typeface="Arial"/>
              </a:defRPr>
            </a:pPr>
            <a:r>
              <a:rPr sz="1350" b="0" i="0">
                <a:solidFill>
                  <a:srgbClr val="EAD9CF"/>
                </a:solidFill>
                <a:latin typeface="Arial"/>
                <a:ea typeface="Arial"/>
                <a:cs typeface="Arial"/>
              </a:rPr>
              <a:t>Login va parol bilan kiriladi.</a:t>
            </a:r>
          </a:p>
        </p:txBody>
      </p:sp>
      <p:sp>
        <p:nvSpPr>
          <p:cNvPr id="12" name="4 500 000 so‘m ekvivalenti. MB: 1 USD = 11 897,90 so‘m, 11.10.2026.">
            <a:extLst xmlns:a="http://schemas.openxmlformats.org/drawingml/2006/main">
              <a:ext uri="{FF2B5EF4-FFF2-40B4-BE49-F238E27FC236}">
                <a16:creationId xmlns:a16="http://schemas.microsoft.com/office/drawing/2014/main" id="{DCFF27BB-91D2-47AD-AA9C-EA75AB061CCD}"/>
              </a:ext>
            </a:extLst>
          </p:cNvPr>
          <p:cNvSpPr>
            <a:spLocks xmlns:a="http://schemas.openxmlformats.org/drawingml/2006/main" noGrp="1"/>
          </p:cNvSpPr>
          <p:nvPr/>
        </p:nvSpPr>
        <p:spPr>
          <a:xfrm xmlns:a="http://schemas.openxmlformats.org/drawingml/2006/main">
            <a:off x="609600" y="6010275"/>
            <a:ext cx="7000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i="0">
                <a:solidFill>
                  <a:srgbClr val="EAD9CF"/>
                </a:solidFill>
                <a:latin typeface="Arial"/>
                <a:ea typeface="Arial"/>
                <a:cs typeface="Arial"/>
              </a:defRPr>
            </a:defPPr>
          </a:lstStyle>
          <a:p xmlns:a="http://schemas.openxmlformats.org/drawingml/2006/main">
            <a:pPr>
              <a:defRPr sz="1350" b="0" i="0">
                <a:solidFill>
                  <a:srgbClr val="EAD9CF"/>
                </a:solidFill>
                <a:latin typeface="Arial"/>
                <a:ea typeface="Arial"/>
                <a:cs typeface="Arial"/>
              </a:defRPr>
            </a:pPr>
            <a:r>
              <a:rPr sz="1350" b="0" i="0">
                <a:solidFill>
                  <a:srgbClr val="EAD9CF"/>
                </a:solidFill>
                <a:latin typeface="Arial"/>
                <a:ea typeface="Arial"/>
                <a:cs typeface="Arial"/>
              </a:rPr>
              <a:t>4 500 000 so‘m ekvivalenti. MB: 1 USD = 11 897,90 so‘m, 11.10.2026.</a:t>
            </a:r>
          </a:p>
        </p:txBody>
      </p:sp>
      <p:sp>
        <p:nvSpPr>
          <p:cNvPr id="13" name="3 oy topshirilgan kundan boshlanadi. Domen va pulli hosting alohida.">
            <a:extLst xmlns:a="http://schemas.openxmlformats.org/drawingml/2006/main">
              <a:ext uri="{FF2B5EF4-FFF2-40B4-BE49-F238E27FC236}">
                <a16:creationId xmlns:a16="http://schemas.microsoft.com/office/drawing/2014/main" id="{5B77413C-66D8-4D54-B373-7E8CD0024CAD}"/>
              </a:ext>
            </a:extLst>
          </p:cNvPr>
          <p:cNvSpPr>
            <a:spLocks xmlns:a="http://schemas.openxmlformats.org/drawingml/2006/main" noGrp="1"/>
          </p:cNvSpPr>
          <p:nvPr/>
        </p:nvSpPr>
        <p:spPr>
          <a:xfrm xmlns:a="http://schemas.openxmlformats.org/drawingml/2006/main">
            <a:off x="609600" y="6400800"/>
            <a:ext cx="685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i="0">
                <a:solidFill>
                  <a:srgbClr val="EAD9CF"/>
                </a:solidFill>
                <a:latin typeface="Arial"/>
                <a:ea typeface="Arial"/>
                <a:cs typeface="Arial"/>
              </a:defRPr>
            </a:defPPr>
          </a:lstStyle>
          <a:p xmlns:a="http://schemas.openxmlformats.org/drawingml/2006/main">
            <a:pPr>
              <a:defRPr sz="1275" b="0" i="0">
                <a:solidFill>
                  <a:srgbClr val="EAD9CF"/>
                </a:solidFill>
                <a:latin typeface="Arial"/>
                <a:ea typeface="Arial"/>
                <a:cs typeface="Arial"/>
              </a:defRPr>
            </a:pPr>
            <a:r>
              <a:rPr sz="1275" b="0" i="0">
                <a:solidFill>
                  <a:srgbClr val="EAD9CF"/>
                </a:solidFill>
                <a:latin typeface="Arial"/>
                <a:ea typeface="Arial"/>
                <a:cs typeface="Arial"/>
              </a:rPr>
              <a:t>3 oy topshirilgan kundan boshlanadi. Domen va pulli hosting alohida.</a:t>
            </a:r>
          </a:p>
        </p:txBody>
      </p:sp>
    </p:spTree>
    <p:extLst>
      <p:ext uri="{BB962C8B-B14F-4D97-AF65-F5344CB8AC3E}">
        <p14:creationId xmlns:p14="http://schemas.microsoft.com/office/powerpoint/2010/main" val="37097900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2026-10-11T10:38:53.7670000Z</dcterms:created>
  <dcterms:modified xsi:type="dcterms:W3CDTF">2026-10-11T10:38:53.7670000Z</dcterms:modified>
</coreProperties>
</file>